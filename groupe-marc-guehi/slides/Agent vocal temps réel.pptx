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DM Sans" pitchFamily="3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un agent vocal : on lui parle, il répond à voix haute, et on peut lui couper la parole. Le sujet impose une architecture en cascade (voix → texte → réponse → voix) et demande de mesurer chaque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Prenez le temps de poser la scène : une personne parle, l’IA répond. Le sujet D1 demande d’assembler trois briques (comprendre la voix, réfléchir, parler) et de mesurer chaque étape. Le plan : ce qu’on a construit, comment ça marche, ce que ça apporte, ce que ça donne, puis les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exigences du sujet : conversation en flux, interruption (barge-in), mode texte de secours. On juge le projet sur des mesures : latence en médiane et au 95e centile, taux d’interruptions réussies, taux d’erreur de mots (WER) sous bruit.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navigateur capte le micro et joue le son ; le serveur fait tourner le VAD (qui détecte quand on parle), puis les trois services : transcription, modèle de langage, synthèse vocale. Tout circule en flux. L’orchestrateur est une petite machine à états : écoute, réflexion, parole, interruption. Chaque étape est horodatée dans un fichier de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en API cloud, rien en local à part le VAD, par consigne du projet. Les modèles ont été comparés par mesure (latence, qualité en français) : Qwen en TTS avait un accent trop marqué, d’où MiniMax. Chaque brique est derrière une interface, donc interchangeable : c’est ce qui permet les modèles de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services distants coûtent ensemble environ 2 secondes ; on ne peut pas les supprimer, on les chevauche et on masque l’attente. Honnêtement : l’accroche cache l’attente, elle ne la réduit pas — le contenu réel de la réponse arrive toujours vers 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délicat est le compromis : un seuil trop bas déclenche l’interruption sur un bruit ou un « mmh », un seuil trop haut rate les vraies interruptions. Les seuils sont réglés par mesure. La troncature de l’historique évite que le modèle croie avoir dit ce que l’utilisateur n’a pas entendu.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Racontez un cas concret : vous cuisinez, vous conduisez, ou vous ne pouvez pas lire un écran, et vous voulez une réponse maintenant. Honnêteté : ce sont les usages visés ; je ne les ai pas testés avec des utilisateurs en situation de handicap. Ce que j’ai mesuré, c’est la rapidité de réponse et la possibilité d’interrompre.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tirés de la campagne run1 (voix et bruits de synthèse, petits échantillons). La latence est mesurée de la fin de parole au début de la réponse, sans accroche. Le WER reste proche de 0 % jusqu’à 5 dB, puis se dégrade : 16 % à 0 dB avec bruit blanc, 67 % avec une foule synthétique. Interruptions : le 32/32 (médiane 372 ms) vient d’une simulation hors ligne du détecteur de parole, avec le seuil actuel de 0,6 ; elle ne passe ni par le réseau ni par le LLM. Si on demande le critère strict de bout en bout (campagne run1, ancien seuil 0,75) : 14 interruptions réussies sur 21, mais l’arrêt de l’agent était propre 21 fois sur 21. Les 7 échecs : détection trop lente sur une phrase très courte, ou phrase coupée en plusieurs tours. Ce taux strict n’a pas été remesuré après le changement de seuil.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moments à montrer. 1) Question d’actualité : l’agent annonce ce qu’il cherche pendant la recherche. 2) Je l’interromps : il se tait aussitôt et répond à la nouvelle question. 3) Si la démo en direct pose problème, la bascule en mode texte est elle-même un résultat à montrer (injection de panne : VOICE_FAIL_STT=1).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pannes sont fréquentes avec des API distantes : on a observé des pics de 33 à 35 s. Chaque brique a donc un secours. La bascule vers le mode texte a été testée dans Chrome avec une panne injectée ; une vraie coupure réseau du serveur Whisper n’a pas été testée. Limite : si OpenRouter lui-même tombe, les secours tombent aussi (même fournisseur).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préfère dire clairement ce qui n’est pas établi. Piste principale : plusieurs langues. Elles ont déjà été essayées puis retirées pour simplifier : des voix anglaises existent chez le fournisseur de voix, mais la détection automatique de la langue se trompe sur les phrases très courtes (« Non. » pris pour de l’italien). La bonne approche serait donc de laisser l’utilisateur choisir sa langue. La fin de tour adaptative est étudiée hors ligne seulement (3 coupures évitées sur 12 en simulation), rien n’est appliqué. Lancer la recherche plus tôt et une mémoire plus longue sont des idées de la feuille de route, non réalisées.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Résumé en une phrase : on peut parler à l’agent, l’interrompre, lui poser une question qui demande internet, et il continue de fonctionner quand une brique tombe. Tout est mesuré, testé et documenté ; les limites sont celles de la slide précédente. Merci, je prends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6212B"/>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45580"/>
            <a:ext cx="10566400" cy="4099620"/>
          </a:xfrm>
          <a:prstGeom prst="rect">
            <a:avLst/>
          </a:prstGeom>
          <a:noFill/>
          <a:ln/>
        </p:spPr>
        <p:txBody>
          <a:bodyPr wrap="square" lIns="0" tIns="0" rIns="0" bIns="0" rtlCol="0" anchor="t"/>
          <a:lstStyle>
            <a:lvl1pPr algn="l" indent="0" marL="0">
              <a:lnSpc>
                <a:spcPct val="140000"/>
              </a:lnSpc>
              <a:buNone/>
              <a:defRPr lang="en-US" sz="1600" dirty="0">
                <a:solidFill>
                  <a:srgbClr val="1621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6212B"/>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45580"/>
            <a:ext cx="10566400" cy="4099620"/>
          </a:xfrm>
          <a:prstGeom prst="rect">
            <a:avLst/>
          </a:prstGeom>
          <a:noFill/>
          <a:ln/>
        </p:spPr>
        <p:txBody>
          <a:bodyPr wrap="square" lIns="0" tIns="0" rIns="0" bIns="0" rtlCol="0" anchor="t"/>
          <a:lstStyle>
            <a:lvl1pPr algn="l" indent="0" marL="0">
              <a:lnSpc>
                <a:spcPct val="140000"/>
              </a:lnSpc>
              <a:buNone/>
              <a:defRPr lang="en-US" sz="1600" dirty="0">
                <a:solidFill>
                  <a:srgbClr val="1621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DM Sans" pitchFamily="34" charset="0"/>
                <a:ea typeface="DM Sans" pitchFamily="34" charset="-122"/>
                <a:cs typeface="DM Sans" pitchFamily="34" charset="-120"/>
              </a:rPr>
              <a:t>PROJET D1 · 5A · SOUTENANCE DU 28 OCTOBRE 2026</a:t>
            </a:r>
            <a:endParaRPr lang="en-US" sz="1400" dirty="0"/>
          </a:p>
        </p:txBody>
      </p:sp>
      <p:sp>
        <p:nvSpPr>
          <p:cNvPr id="3" name="Text 1"/>
          <p:cNvSpPr/>
          <p:nvPr>
            <p:ph type="title"/>
          </p:nvPr>
        </p:nvSpPr>
        <p:spPr>
          <a:xfrm>
            <a:off x="812800" y="2029470"/>
            <a:ext cx="10883392" cy="173226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EFEDE6"/>
                </a:solidFill>
                <a:latin typeface="DM Sans" pitchFamily="34" charset="0"/>
                <a:ea typeface="DM Sans" pitchFamily="34" charset="-122"/>
                <a:cs typeface="DM Sans" pitchFamily="34" charset="-120"/>
              </a:rPr>
              <a:t>Un agent vocal</a:t>
            </a:r>
            <a:endParaRPr lang="en-US" sz="6400" dirty="0"/>
          </a:p>
          <a:p>
            <a:pPr algn="l" indent="0" marL="0">
              <a:lnSpc>
                <a:spcPts val="6720"/>
              </a:lnSpc>
              <a:buNone/>
            </a:pPr>
            <a:r>
              <a:rPr lang="en-US" sz="6400" b="1" i="0" dirty="0">
                <a:solidFill>
                  <a:srgbClr val="EFEDE6"/>
                </a:solidFill>
                <a:latin typeface="DM Sans" pitchFamily="34" charset="0"/>
                <a:ea typeface="DM Sans" pitchFamily="34" charset="-122"/>
                <a:cs typeface="DM Sans" pitchFamily="34" charset="-120"/>
              </a:rPr>
              <a:t>en temps réel</a:t>
            </a:r>
            <a:endParaRPr lang="en-US" sz="6400" dirty="0"/>
          </a:p>
        </p:txBody>
      </p:sp>
      <p:sp>
        <p:nvSpPr>
          <p:cNvPr id="4" name="Text 2"/>
          <p:cNvSpPr/>
          <p:nvPr/>
        </p:nvSpPr>
        <p:spPr>
          <a:xfrm>
            <a:off x="812800" y="393953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4CC"/>
                </a:solidFill>
                <a:latin typeface="DM Sans" pitchFamily="34" charset="0"/>
                <a:ea typeface="DM Sans" pitchFamily="34" charset="-122"/>
                <a:cs typeface="DM Sans" pitchFamily="34" charset="-120"/>
              </a:rPr>
              <a:t>Une IA à qui l’on parle vraiment : elle répond en quelques secondes, et on peut lui couper la parole.</a:t>
            </a:r>
            <a:endParaRPr lang="en-US" sz="2000" dirty="0"/>
          </a:p>
        </p:txBody>
      </p:sp>
      <p:sp>
        <p:nvSpPr>
          <p:cNvPr id="5" name="Text 3"/>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C"/>
                </a:solidFill>
                <a:latin typeface="DM Sans" pitchFamily="34" charset="0"/>
                <a:ea typeface="DM Sans" pitchFamily="34" charset="-122"/>
                <a:cs typeface="DM Sans" pitchFamily="34" charset="-120"/>
              </a:rPr>
              <a:t>Pierre Ingrachen--Boutantin &amp; Malo Dufournier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INTRODUCTION</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Le projet en une minute</a:t>
            </a:r>
            <a:endParaRPr lang="en-US" sz="3600" dirty="0"/>
          </a:p>
        </p:txBody>
      </p:sp>
      <p:sp>
        <p:nvSpPr>
          <p:cNvPr id="4" name="Text 2"/>
          <p:cNvSpPr/>
          <p:nvPr/>
        </p:nvSpPr>
        <p:spPr>
          <a:xfrm>
            <a:off x="812800" y="1945580"/>
            <a:ext cx="9810750"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6212B"/>
                </a:solidFill>
                <a:latin typeface="DM Sans" pitchFamily="34" charset="0"/>
                <a:ea typeface="DM Sans" pitchFamily="34" charset="-122"/>
                <a:cs typeface="DM Sans" pitchFamily="34" charset="-120"/>
              </a:rPr>
              <a:t>Vous posez une question à voix haute. Quelques secondes plus tard, une voix vous répond. Et si vous l’interrompez, elle s’arrête.</a:t>
            </a:r>
            <a:endParaRPr lang="en-US" sz="2200" dirty="0"/>
          </a:p>
        </p:txBody>
      </p:sp>
      <p:sp>
        <p:nvSpPr>
          <p:cNvPr id="5" name="Shape 3"/>
          <p:cNvSpPr/>
          <p:nvPr/>
        </p:nvSpPr>
        <p:spPr>
          <a:xfrm>
            <a:off x="815975" y="3007916"/>
            <a:ext cx="3380284" cy="1614140"/>
          </a:xfrm>
          <a:prstGeom prst="roundRect">
            <a:avLst>
              <a:gd name="adj" fmla="val 6098"/>
            </a:avLst>
          </a:prstGeom>
          <a:solidFill>
            <a:srgbClr val="FDFCF8"/>
          </a:solidFill>
          <a:ln w="6350">
            <a:solidFill>
              <a:srgbClr val="E1DDD1"/>
            </a:solidFill>
            <a:prstDash val="solid"/>
          </a:ln>
        </p:spPr>
      </p:sp>
      <p:sp>
        <p:nvSpPr>
          <p:cNvPr id="6" name="Text 4"/>
          <p:cNvSpPr/>
          <p:nvPr/>
        </p:nvSpPr>
        <p:spPr>
          <a:xfrm>
            <a:off x="1073150" y="3239691"/>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B6C"/>
                </a:solidFill>
                <a:latin typeface="DM Sans" pitchFamily="34" charset="0"/>
                <a:ea typeface="DM Sans" pitchFamily="34" charset="-122"/>
                <a:cs typeface="DM Sans" pitchFamily="34" charset="-120"/>
              </a:rPr>
              <a:t>Le sujet</a:t>
            </a:r>
            <a:endParaRPr lang="en-US" sz="1800" dirty="0"/>
          </a:p>
        </p:txBody>
      </p:sp>
      <p:sp>
        <p:nvSpPr>
          <p:cNvPr id="7" name="Text 5"/>
          <p:cNvSpPr/>
          <p:nvPr/>
        </p:nvSpPr>
        <p:spPr>
          <a:xfrm>
            <a:off x="1073150" y="3590181"/>
            <a:ext cx="2951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Un agent vocal en temps réel, où la rapidité de réponse compte.</a:t>
            </a:r>
            <a:endParaRPr lang="en-US" sz="1500" dirty="0"/>
          </a:p>
        </p:txBody>
      </p:sp>
      <p:sp>
        <p:nvSpPr>
          <p:cNvPr id="8" name="Shape 6"/>
          <p:cNvSpPr/>
          <p:nvPr/>
        </p:nvSpPr>
        <p:spPr>
          <a:xfrm>
            <a:off x="4405809" y="3007916"/>
            <a:ext cx="3380333" cy="1614140"/>
          </a:xfrm>
          <a:prstGeom prst="roundRect">
            <a:avLst>
              <a:gd name="adj" fmla="val 6098"/>
            </a:avLst>
          </a:prstGeom>
          <a:solidFill>
            <a:srgbClr val="FDFCF8"/>
          </a:solidFill>
          <a:ln w="6350">
            <a:solidFill>
              <a:srgbClr val="E1DDD1"/>
            </a:solidFill>
            <a:prstDash val="solid"/>
          </a:ln>
        </p:spPr>
      </p:sp>
      <p:sp>
        <p:nvSpPr>
          <p:cNvPr id="9" name="Text 7"/>
          <p:cNvSpPr/>
          <p:nvPr/>
        </p:nvSpPr>
        <p:spPr>
          <a:xfrm>
            <a:off x="4662984" y="3239691"/>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B6C"/>
                </a:solidFill>
                <a:latin typeface="DM Sans" pitchFamily="34" charset="0"/>
                <a:ea typeface="DM Sans" pitchFamily="34" charset="-122"/>
                <a:cs typeface="DM Sans" pitchFamily="34" charset="-120"/>
              </a:rPr>
              <a:t>Le défi</a:t>
            </a:r>
            <a:endParaRPr lang="en-US" sz="1800" dirty="0"/>
          </a:p>
        </p:txBody>
      </p:sp>
      <p:sp>
        <p:nvSpPr>
          <p:cNvPr id="10" name="Text 8"/>
          <p:cNvSpPr/>
          <p:nvPr/>
        </p:nvSpPr>
        <p:spPr>
          <a:xfrm>
            <a:off x="4662984" y="3590181"/>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Enchaîner trois modèles d’IA sans que la conversation sonne artificielle.</a:t>
            </a:r>
            <a:endParaRPr lang="en-US" sz="1500" dirty="0"/>
          </a:p>
        </p:txBody>
      </p:sp>
      <p:sp>
        <p:nvSpPr>
          <p:cNvPr id="11" name="Shape 9"/>
          <p:cNvSpPr/>
          <p:nvPr/>
        </p:nvSpPr>
        <p:spPr>
          <a:xfrm>
            <a:off x="7995692" y="3007916"/>
            <a:ext cx="3380333" cy="1614140"/>
          </a:xfrm>
          <a:prstGeom prst="roundRect">
            <a:avLst>
              <a:gd name="adj" fmla="val 6098"/>
            </a:avLst>
          </a:prstGeom>
          <a:solidFill>
            <a:srgbClr val="FDFCF8"/>
          </a:solidFill>
          <a:ln w="6350">
            <a:solidFill>
              <a:srgbClr val="E1DDD1"/>
            </a:solidFill>
            <a:prstDash val="solid"/>
          </a:ln>
        </p:spPr>
      </p:sp>
      <p:sp>
        <p:nvSpPr>
          <p:cNvPr id="12" name="Text 10"/>
          <p:cNvSpPr/>
          <p:nvPr/>
        </p:nvSpPr>
        <p:spPr>
          <a:xfrm>
            <a:off x="8252867" y="3239691"/>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B6C"/>
                </a:solidFill>
                <a:latin typeface="DM Sans" pitchFamily="34" charset="0"/>
                <a:ea typeface="DM Sans" pitchFamily="34" charset="-122"/>
                <a:cs typeface="DM Sans" pitchFamily="34" charset="-120"/>
              </a:rPr>
              <a:t>Notre démarche</a:t>
            </a:r>
            <a:endParaRPr lang="en-US" sz="1800" dirty="0"/>
          </a:p>
        </p:txBody>
      </p:sp>
      <p:sp>
        <p:nvSpPr>
          <p:cNvPr id="13" name="Text 11"/>
          <p:cNvSpPr/>
          <p:nvPr/>
        </p:nvSpPr>
        <p:spPr>
          <a:xfrm>
            <a:off x="8252867" y="3590181"/>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Construire, mesurer chaque étape, puis dire honnêtement ce que ça vaut.</a:t>
            </a:r>
            <a:endParaRPr lang="en-US" sz="1500" dirty="0"/>
          </a:p>
        </p:txBody>
      </p:sp>
      <p:sp>
        <p:nvSpPr>
          <p:cNvPr id="14" name="Text 12"/>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15" name="Text 13"/>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LE PROJET</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Ce qu’on a construit</a:t>
            </a:r>
            <a:endParaRPr lang="en-US" sz="3600" dirty="0"/>
          </a:p>
        </p:txBody>
      </p:sp>
      <p:sp>
        <p:nvSpPr>
          <p:cNvPr id="4" name="Shape 2"/>
          <p:cNvSpPr/>
          <p:nvPr/>
        </p:nvSpPr>
        <p:spPr>
          <a:xfrm>
            <a:off x="815975" y="1948755"/>
            <a:ext cx="3380284" cy="1720850"/>
          </a:xfrm>
          <a:prstGeom prst="roundRect">
            <a:avLst>
              <a:gd name="adj" fmla="val 5720"/>
            </a:avLst>
          </a:prstGeom>
          <a:solidFill>
            <a:srgbClr val="FDFCF8"/>
          </a:solidFill>
          <a:ln w="6350">
            <a:solidFill>
              <a:srgbClr val="E1DDD1"/>
            </a:solidFill>
            <a:prstDash val="solid"/>
          </a:ln>
        </p:spPr>
      </p:sp>
      <p:sp>
        <p:nvSpPr>
          <p:cNvPr id="5" name="Text 3"/>
          <p:cNvSpPr/>
          <p:nvPr/>
        </p:nvSpPr>
        <p:spPr>
          <a:xfrm>
            <a:off x="1073150" y="2205930"/>
            <a:ext cx="311993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Une vraie conversation</a:t>
            </a:r>
            <a:endParaRPr lang="en-US" sz="2000" dirty="0"/>
          </a:p>
        </p:txBody>
      </p:sp>
      <p:sp>
        <p:nvSpPr>
          <p:cNvPr id="6" name="Text 4"/>
          <p:cNvSpPr/>
          <p:nvPr/>
        </p:nvSpPr>
        <p:spPr>
          <a:xfrm>
            <a:off x="1073150" y="2612330"/>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L’agent commence à répondre avant d’avoir fini sa réponse, comme quelqu’un qui parle.</a:t>
            </a:r>
            <a:endParaRPr lang="en-US" sz="1500" dirty="0"/>
          </a:p>
        </p:txBody>
      </p:sp>
      <p:sp>
        <p:nvSpPr>
          <p:cNvPr id="7" name="Shape 5"/>
          <p:cNvSpPr/>
          <p:nvPr/>
        </p:nvSpPr>
        <p:spPr>
          <a:xfrm>
            <a:off x="4405809" y="1948755"/>
            <a:ext cx="3380333" cy="1720850"/>
          </a:xfrm>
          <a:prstGeom prst="roundRect">
            <a:avLst>
              <a:gd name="adj" fmla="val 5720"/>
            </a:avLst>
          </a:prstGeom>
          <a:solidFill>
            <a:srgbClr val="FDFCF8"/>
          </a:solidFill>
          <a:ln w="6350">
            <a:solidFill>
              <a:srgbClr val="E1DDD1"/>
            </a:solidFill>
            <a:prstDash val="solid"/>
          </a:ln>
        </p:spPr>
      </p:sp>
      <p:sp>
        <p:nvSpPr>
          <p:cNvPr id="8" name="Text 6"/>
          <p:cNvSpPr/>
          <p:nvPr/>
        </p:nvSpPr>
        <p:spPr>
          <a:xfrm>
            <a:off x="4662984" y="220593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Qu’on peut couper</a:t>
            </a:r>
            <a:endParaRPr lang="en-US" sz="2000" dirty="0"/>
          </a:p>
        </p:txBody>
      </p:sp>
      <p:sp>
        <p:nvSpPr>
          <p:cNvPr id="9" name="Text 7"/>
          <p:cNvSpPr/>
          <p:nvPr/>
        </p:nvSpPr>
        <p:spPr>
          <a:xfrm>
            <a:off x="4662984" y="2612330"/>
            <a:ext cx="295196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On l’interrompt en pleine phrase : il se tait et nous écoute.</a:t>
            </a:r>
            <a:endParaRPr lang="en-US" sz="1500" dirty="0"/>
          </a:p>
        </p:txBody>
      </p:sp>
      <p:sp>
        <p:nvSpPr>
          <p:cNvPr id="10" name="Shape 8"/>
          <p:cNvSpPr/>
          <p:nvPr/>
        </p:nvSpPr>
        <p:spPr>
          <a:xfrm>
            <a:off x="7995692" y="1948755"/>
            <a:ext cx="3380333" cy="1720850"/>
          </a:xfrm>
          <a:prstGeom prst="roundRect">
            <a:avLst>
              <a:gd name="adj" fmla="val 5720"/>
            </a:avLst>
          </a:prstGeom>
          <a:solidFill>
            <a:srgbClr val="FDFCF8"/>
          </a:solidFill>
          <a:ln w="6350">
            <a:solidFill>
              <a:srgbClr val="E1DDD1"/>
            </a:solidFill>
            <a:prstDash val="solid"/>
          </a:ln>
        </p:spPr>
      </p:sp>
      <p:sp>
        <p:nvSpPr>
          <p:cNvPr id="11" name="Text 9"/>
          <p:cNvSpPr/>
          <p:nvPr/>
        </p:nvSpPr>
        <p:spPr>
          <a:xfrm>
            <a:off x="8252867" y="220593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Qui ne lâche pas</a:t>
            </a:r>
            <a:endParaRPr lang="en-US" sz="2000" dirty="0"/>
          </a:p>
        </p:txBody>
      </p:sp>
      <p:sp>
        <p:nvSpPr>
          <p:cNvPr id="12" name="Text 10"/>
          <p:cNvSpPr/>
          <p:nvPr/>
        </p:nvSpPr>
        <p:spPr>
          <a:xfrm>
            <a:off x="8252867" y="2612330"/>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Si la voix tombe en panne, on continue au clavier avec la même chaîne.</a:t>
            </a:r>
            <a:endParaRPr lang="en-US" sz="1500" dirty="0"/>
          </a:p>
        </p:txBody>
      </p:sp>
      <p:sp>
        <p:nvSpPr>
          <p:cNvPr id="13" name="Shape 11"/>
          <p:cNvSpPr/>
          <p:nvPr/>
        </p:nvSpPr>
        <p:spPr>
          <a:xfrm>
            <a:off x="812800" y="3977580"/>
            <a:ext cx="10566400" cy="1120130"/>
          </a:xfrm>
          <a:prstGeom prst="roundRect">
            <a:avLst>
              <a:gd name="adj" fmla="val 9070"/>
            </a:avLst>
          </a:prstGeom>
          <a:solidFill>
            <a:srgbClr val="E3EFEA"/>
          </a:solidFill>
          <a:ln/>
        </p:spPr>
      </p:sp>
      <p:sp>
        <p:nvSpPr>
          <p:cNvPr id="14" name="Text 12"/>
          <p:cNvSpPr/>
          <p:nvPr/>
        </p:nvSpPr>
        <p:spPr>
          <a:xfrm>
            <a:off x="1066800" y="4231580"/>
            <a:ext cx="103601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E52"/>
                </a:solidFill>
                <a:latin typeface="DM Sans" pitchFamily="34" charset="0"/>
                <a:ea typeface="DM Sans" pitchFamily="34" charset="-122"/>
                <a:cs typeface="DM Sans" pitchFamily="34" charset="-120"/>
              </a:rPr>
              <a:t>Comment on juge le résultat</a:t>
            </a:r>
            <a:endParaRPr lang="en-US" sz="1600" dirty="0"/>
          </a:p>
        </p:txBody>
      </p:sp>
      <p:sp>
        <p:nvSpPr>
          <p:cNvPr id="15" name="Text 13"/>
          <p:cNvSpPr/>
          <p:nvPr/>
        </p:nvSpPr>
        <p:spPr>
          <a:xfrm>
            <a:off x="1066800" y="4577011"/>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12B"/>
                </a:solidFill>
                <a:latin typeface="DM Sans" pitchFamily="34" charset="0"/>
                <a:ea typeface="DM Sans" pitchFamily="34" charset="-122"/>
                <a:cs typeface="DM Sans" pitchFamily="34" charset="-120"/>
              </a:rPr>
              <a:t>Le temps de réponse à chaque étape · les interruptions bien gérées · les erreurs de transcription dans le bruit</a:t>
            </a:r>
            <a:endParaRPr lang="en-US" sz="1500" dirty="0"/>
          </a:p>
        </p:txBody>
      </p:sp>
      <p:sp>
        <p:nvSpPr>
          <p:cNvPr id="16" name="Text 14"/>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17" name="Text 1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ARCHITECTURE</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Comment ça marche</a:t>
            </a:r>
            <a:endParaRPr lang="en-US" sz="3600" dirty="0"/>
          </a:p>
        </p:txBody>
      </p:sp>
      <p:sp>
        <p:nvSpPr>
          <p:cNvPr id="4" name="Shape 2"/>
          <p:cNvSpPr/>
          <p:nvPr/>
        </p:nvSpPr>
        <p:spPr>
          <a:xfrm>
            <a:off x="815975" y="1948755"/>
            <a:ext cx="1659880" cy="947390"/>
          </a:xfrm>
          <a:prstGeom prst="roundRect">
            <a:avLst>
              <a:gd name="adj" fmla="val 10389"/>
            </a:avLst>
          </a:prstGeom>
          <a:solidFill>
            <a:srgbClr val="FDFCF8"/>
          </a:solidFill>
          <a:ln w="6350">
            <a:solidFill>
              <a:srgbClr val="E1DDD1"/>
            </a:solidFill>
            <a:prstDash val="solid"/>
          </a:ln>
        </p:spPr>
      </p:sp>
      <p:sp>
        <p:nvSpPr>
          <p:cNvPr id="5" name="Text 3"/>
          <p:cNvSpPr/>
          <p:nvPr/>
        </p:nvSpPr>
        <p:spPr>
          <a:xfrm>
            <a:off x="895350" y="2155130"/>
            <a:ext cx="150113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6212B"/>
                </a:solidFill>
                <a:latin typeface="DM Sans" pitchFamily="34" charset="0"/>
                <a:ea typeface="DM Sans" pitchFamily="34" charset="-122"/>
                <a:cs typeface="DM Sans" pitchFamily="34" charset="-120"/>
              </a:rPr>
              <a:t>Micro + VAD</a:t>
            </a:r>
            <a:endParaRPr lang="en-US" sz="1600" dirty="0"/>
          </a:p>
        </p:txBody>
      </p:sp>
      <p:sp>
        <p:nvSpPr>
          <p:cNvPr id="6" name="Text 4"/>
          <p:cNvSpPr/>
          <p:nvPr/>
        </p:nvSpPr>
        <p:spPr>
          <a:xfrm>
            <a:off x="895350" y="2475161"/>
            <a:ext cx="1501130"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3E4A55"/>
                </a:solidFill>
                <a:latin typeface="DM Sans" pitchFamily="34" charset="0"/>
                <a:ea typeface="DM Sans" pitchFamily="34" charset="-122"/>
                <a:cs typeface="DM Sans" pitchFamily="34" charset="-120"/>
              </a:rPr>
              <a:t>détecte la parole</a:t>
            </a:r>
            <a:endParaRPr lang="en-US" sz="1300" dirty="0"/>
          </a:p>
        </p:txBody>
      </p:sp>
      <p:pic>
        <p:nvPicPr>
          <p:cNvPr id="7" name="Image 0" descr="arrow-right">    </p:cNvPr>
          <p:cNvPicPr>
            <a:picLocks noChangeAspect="1"/>
          </p:cNvPicPr>
          <p:nvPr/>
        </p:nvPicPr>
        <p:blipFill>
          <a:blip r:embed="rId1"/>
          <a:srcRect l="0" r="0" t="0" b="0"/>
          <a:stretch/>
        </p:blipFill>
        <p:spPr>
          <a:xfrm>
            <a:off x="2606030" y="2320826"/>
            <a:ext cx="304800" cy="203200"/>
          </a:xfrm>
          <a:prstGeom prst="rect">
            <a:avLst/>
          </a:prstGeom>
        </p:spPr>
      </p:pic>
      <p:sp>
        <p:nvSpPr>
          <p:cNvPr id="8" name="Shape 5"/>
          <p:cNvSpPr/>
          <p:nvPr/>
        </p:nvSpPr>
        <p:spPr>
          <a:xfrm>
            <a:off x="3041005" y="1948755"/>
            <a:ext cx="1659930" cy="947390"/>
          </a:xfrm>
          <a:prstGeom prst="roundRect">
            <a:avLst>
              <a:gd name="adj" fmla="val 10389"/>
            </a:avLst>
          </a:prstGeom>
          <a:solidFill>
            <a:srgbClr val="FDFCF8"/>
          </a:solidFill>
          <a:ln w="6350">
            <a:solidFill>
              <a:srgbClr val="E1DDD1"/>
            </a:solidFill>
            <a:prstDash val="solid"/>
          </a:ln>
        </p:spPr>
      </p:sp>
      <p:sp>
        <p:nvSpPr>
          <p:cNvPr id="9" name="Text 6"/>
          <p:cNvSpPr/>
          <p:nvPr/>
        </p:nvSpPr>
        <p:spPr>
          <a:xfrm>
            <a:off x="3120380" y="2155130"/>
            <a:ext cx="150118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6212B"/>
                </a:solidFill>
                <a:latin typeface="DM Sans" pitchFamily="34" charset="0"/>
                <a:ea typeface="DM Sans" pitchFamily="34" charset="-122"/>
                <a:cs typeface="DM Sans" pitchFamily="34" charset="-120"/>
              </a:rPr>
              <a:t>STT</a:t>
            </a:r>
            <a:endParaRPr lang="en-US" sz="1600" dirty="0"/>
          </a:p>
        </p:txBody>
      </p:sp>
      <p:sp>
        <p:nvSpPr>
          <p:cNvPr id="10" name="Text 7"/>
          <p:cNvSpPr/>
          <p:nvPr/>
        </p:nvSpPr>
        <p:spPr>
          <a:xfrm>
            <a:off x="3120380" y="2475161"/>
            <a:ext cx="1501180"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3E4A55"/>
                </a:solidFill>
                <a:latin typeface="DM Sans" pitchFamily="34" charset="0"/>
                <a:ea typeface="DM Sans" pitchFamily="34" charset="-122"/>
                <a:cs typeface="DM Sans" pitchFamily="34" charset="-120"/>
              </a:rPr>
              <a:t>voix vers texte</a:t>
            </a:r>
            <a:endParaRPr lang="en-US" sz="1300" dirty="0"/>
          </a:p>
        </p:txBody>
      </p:sp>
      <p:pic>
        <p:nvPicPr>
          <p:cNvPr id="11" name="Image 1" descr="arrow-right">    </p:cNvPr>
          <p:cNvPicPr>
            <a:picLocks noChangeAspect="1"/>
          </p:cNvPicPr>
          <p:nvPr/>
        </p:nvPicPr>
        <p:blipFill>
          <a:blip r:embed="rId2"/>
          <a:srcRect l="0" r="0" t="0" b="0"/>
          <a:stretch/>
        </p:blipFill>
        <p:spPr>
          <a:xfrm>
            <a:off x="4831110" y="2320826"/>
            <a:ext cx="304800" cy="203200"/>
          </a:xfrm>
          <a:prstGeom prst="rect">
            <a:avLst/>
          </a:prstGeom>
        </p:spPr>
      </p:pic>
      <p:sp>
        <p:nvSpPr>
          <p:cNvPr id="12" name="Shape 8"/>
          <p:cNvSpPr/>
          <p:nvPr/>
        </p:nvSpPr>
        <p:spPr>
          <a:xfrm>
            <a:off x="5266085" y="1948755"/>
            <a:ext cx="1659880" cy="947390"/>
          </a:xfrm>
          <a:prstGeom prst="roundRect">
            <a:avLst>
              <a:gd name="adj" fmla="val 10389"/>
            </a:avLst>
          </a:prstGeom>
          <a:solidFill>
            <a:srgbClr val="FDFCF8"/>
          </a:solidFill>
          <a:ln w="6350">
            <a:solidFill>
              <a:srgbClr val="E1DDD1"/>
            </a:solidFill>
            <a:prstDash val="solid"/>
          </a:ln>
        </p:spPr>
      </p:sp>
      <p:sp>
        <p:nvSpPr>
          <p:cNvPr id="13" name="Text 9"/>
          <p:cNvSpPr/>
          <p:nvPr/>
        </p:nvSpPr>
        <p:spPr>
          <a:xfrm>
            <a:off x="5345460" y="2155130"/>
            <a:ext cx="150113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6212B"/>
                </a:solidFill>
                <a:latin typeface="DM Sans" pitchFamily="34" charset="0"/>
                <a:ea typeface="DM Sans" pitchFamily="34" charset="-122"/>
                <a:cs typeface="DM Sans" pitchFamily="34" charset="-120"/>
              </a:rPr>
              <a:t>LLM</a:t>
            </a:r>
            <a:endParaRPr lang="en-US" sz="1600" dirty="0"/>
          </a:p>
        </p:txBody>
      </p:sp>
      <p:sp>
        <p:nvSpPr>
          <p:cNvPr id="14" name="Text 10"/>
          <p:cNvSpPr/>
          <p:nvPr/>
        </p:nvSpPr>
        <p:spPr>
          <a:xfrm>
            <a:off x="5345460" y="2475161"/>
            <a:ext cx="1501130"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3E4A55"/>
                </a:solidFill>
                <a:latin typeface="DM Sans" pitchFamily="34" charset="0"/>
                <a:ea typeface="DM Sans" pitchFamily="34" charset="-122"/>
                <a:cs typeface="DM Sans" pitchFamily="34" charset="-120"/>
              </a:rPr>
              <a:t>écrit la réponse</a:t>
            </a:r>
            <a:endParaRPr lang="en-US" sz="1300" dirty="0"/>
          </a:p>
        </p:txBody>
      </p:sp>
      <p:pic>
        <p:nvPicPr>
          <p:cNvPr id="15" name="Image 2" descr="arrow-right">    </p:cNvPr>
          <p:cNvPicPr>
            <a:picLocks noChangeAspect="1"/>
          </p:cNvPicPr>
          <p:nvPr/>
        </p:nvPicPr>
        <p:blipFill>
          <a:blip r:embed="rId3"/>
          <a:srcRect l="0" r="0" t="0" b="0"/>
          <a:stretch/>
        </p:blipFill>
        <p:spPr>
          <a:xfrm>
            <a:off x="7056140" y="2320826"/>
            <a:ext cx="304800" cy="203200"/>
          </a:xfrm>
          <a:prstGeom prst="rect">
            <a:avLst/>
          </a:prstGeom>
        </p:spPr>
      </p:pic>
      <p:sp>
        <p:nvSpPr>
          <p:cNvPr id="16" name="Shape 11"/>
          <p:cNvSpPr/>
          <p:nvPr/>
        </p:nvSpPr>
        <p:spPr>
          <a:xfrm>
            <a:off x="7491115" y="1948755"/>
            <a:ext cx="1659880" cy="947390"/>
          </a:xfrm>
          <a:prstGeom prst="roundRect">
            <a:avLst>
              <a:gd name="adj" fmla="val 10389"/>
            </a:avLst>
          </a:prstGeom>
          <a:solidFill>
            <a:srgbClr val="FDFCF8"/>
          </a:solidFill>
          <a:ln w="6350">
            <a:solidFill>
              <a:srgbClr val="E1DDD1"/>
            </a:solidFill>
            <a:prstDash val="solid"/>
          </a:ln>
        </p:spPr>
      </p:sp>
      <p:sp>
        <p:nvSpPr>
          <p:cNvPr id="17" name="Text 12"/>
          <p:cNvSpPr/>
          <p:nvPr/>
        </p:nvSpPr>
        <p:spPr>
          <a:xfrm>
            <a:off x="7570490" y="2155130"/>
            <a:ext cx="150113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6212B"/>
                </a:solidFill>
                <a:latin typeface="DM Sans" pitchFamily="34" charset="0"/>
                <a:ea typeface="DM Sans" pitchFamily="34" charset="-122"/>
                <a:cs typeface="DM Sans" pitchFamily="34" charset="-120"/>
              </a:rPr>
              <a:t>TTS</a:t>
            </a:r>
            <a:endParaRPr lang="en-US" sz="1600" dirty="0"/>
          </a:p>
        </p:txBody>
      </p:sp>
      <p:sp>
        <p:nvSpPr>
          <p:cNvPr id="18" name="Text 13"/>
          <p:cNvSpPr/>
          <p:nvPr/>
        </p:nvSpPr>
        <p:spPr>
          <a:xfrm>
            <a:off x="7570490" y="2475161"/>
            <a:ext cx="1501130"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3E4A55"/>
                </a:solidFill>
                <a:latin typeface="DM Sans" pitchFamily="34" charset="0"/>
                <a:ea typeface="DM Sans" pitchFamily="34" charset="-122"/>
                <a:cs typeface="DM Sans" pitchFamily="34" charset="-120"/>
              </a:rPr>
              <a:t>texte vers voix</a:t>
            </a:r>
            <a:endParaRPr lang="en-US" sz="1300" dirty="0"/>
          </a:p>
        </p:txBody>
      </p:sp>
      <p:pic>
        <p:nvPicPr>
          <p:cNvPr id="19" name="Image 3" descr="arrow-right">    </p:cNvPr>
          <p:cNvPicPr>
            <a:picLocks noChangeAspect="1"/>
          </p:cNvPicPr>
          <p:nvPr/>
        </p:nvPicPr>
        <p:blipFill>
          <a:blip r:embed="rId4"/>
          <a:srcRect l="0" r="0" t="0" b="0"/>
          <a:stretch/>
        </p:blipFill>
        <p:spPr>
          <a:xfrm>
            <a:off x="9281170" y="2320826"/>
            <a:ext cx="304800" cy="203200"/>
          </a:xfrm>
          <a:prstGeom prst="rect">
            <a:avLst/>
          </a:prstGeom>
        </p:spPr>
      </p:pic>
      <p:sp>
        <p:nvSpPr>
          <p:cNvPr id="20" name="Shape 14"/>
          <p:cNvSpPr/>
          <p:nvPr/>
        </p:nvSpPr>
        <p:spPr>
          <a:xfrm>
            <a:off x="9716145" y="1948755"/>
            <a:ext cx="1659880" cy="947390"/>
          </a:xfrm>
          <a:prstGeom prst="roundRect">
            <a:avLst>
              <a:gd name="adj" fmla="val 10389"/>
            </a:avLst>
          </a:prstGeom>
          <a:solidFill>
            <a:srgbClr val="FDFCF8"/>
          </a:solidFill>
          <a:ln w="6350">
            <a:solidFill>
              <a:srgbClr val="E1DDD1"/>
            </a:solidFill>
            <a:prstDash val="solid"/>
          </a:ln>
        </p:spPr>
      </p:sp>
      <p:sp>
        <p:nvSpPr>
          <p:cNvPr id="21" name="Text 15"/>
          <p:cNvSpPr/>
          <p:nvPr/>
        </p:nvSpPr>
        <p:spPr>
          <a:xfrm>
            <a:off x="9795520" y="2155130"/>
            <a:ext cx="150113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6212B"/>
                </a:solidFill>
                <a:latin typeface="DM Sans" pitchFamily="34" charset="0"/>
                <a:ea typeface="DM Sans" pitchFamily="34" charset="-122"/>
                <a:cs typeface="DM Sans" pitchFamily="34" charset="-120"/>
              </a:rPr>
              <a:t>Lecture</a:t>
            </a:r>
            <a:endParaRPr lang="en-US" sz="1600" dirty="0"/>
          </a:p>
        </p:txBody>
      </p:sp>
      <p:sp>
        <p:nvSpPr>
          <p:cNvPr id="22" name="Text 16"/>
          <p:cNvSpPr/>
          <p:nvPr/>
        </p:nvSpPr>
        <p:spPr>
          <a:xfrm>
            <a:off x="9795520" y="2475161"/>
            <a:ext cx="1501130"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3E4A55"/>
                </a:solidFill>
                <a:latin typeface="DM Sans" pitchFamily="34" charset="0"/>
                <a:ea typeface="DM Sans" pitchFamily="34" charset="-122"/>
                <a:cs typeface="DM Sans" pitchFamily="34" charset="-120"/>
              </a:rPr>
              <a:t>dans le navigateur</a:t>
            </a:r>
            <a:endParaRPr lang="en-US" sz="1300" dirty="0"/>
          </a:p>
        </p:txBody>
      </p:sp>
      <p:sp>
        <p:nvSpPr>
          <p:cNvPr id="23" name="Shape 17"/>
          <p:cNvSpPr/>
          <p:nvPr/>
        </p:nvSpPr>
        <p:spPr>
          <a:xfrm>
            <a:off x="812800" y="3204121"/>
            <a:ext cx="10566400" cy="1125190"/>
          </a:xfrm>
          <a:prstGeom prst="roundRect">
            <a:avLst>
              <a:gd name="adj" fmla="val 9030"/>
            </a:avLst>
          </a:prstGeom>
          <a:solidFill>
            <a:srgbClr val="14202B"/>
          </a:solidFill>
          <a:ln/>
        </p:spPr>
      </p:sp>
      <p:sp>
        <p:nvSpPr>
          <p:cNvPr id="24" name="Text 18"/>
          <p:cNvSpPr/>
          <p:nvPr/>
        </p:nvSpPr>
        <p:spPr>
          <a:xfrm>
            <a:off x="1066800" y="3458121"/>
            <a:ext cx="1036015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DM Sans" pitchFamily="34" charset="0"/>
                <a:ea typeface="DM Sans" pitchFamily="34" charset="-122"/>
                <a:cs typeface="DM Sans" pitchFamily="34" charset="-120"/>
              </a:rPr>
              <a:t>Orchestrateur</a:t>
            </a:r>
            <a:endParaRPr lang="en-US" sz="1800" dirty="0"/>
          </a:p>
        </p:txBody>
      </p:sp>
      <p:sp>
        <p:nvSpPr>
          <p:cNvPr id="25" name="Text 19"/>
          <p:cNvSpPr/>
          <p:nvPr/>
        </p:nvSpPr>
        <p:spPr>
          <a:xfrm>
            <a:off x="1066800" y="3808611"/>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FEDE6"/>
                </a:solidFill>
                <a:latin typeface="DM Sans" pitchFamily="34" charset="0"/>
                <a:ea typeface="DM Sans" pitchFamily="34" charset="-122"/>
                <a:cs typeface="DM Sans" pitchFamily="34" charset="-120"/>
              </a:rPr>
              <a:t>Il fait passer la voix d’une étape à l’autre, se tait dès qu’on lui coupe la parole, et chronomètre chaque étape.</a:t>
            </a:r>
            <a:endParaRPr lang="en-US" sz="1500" dirty="0"/>
          </a:p>
        </p:txBody>
      </p:sp>
      <p:sp>
        <p:nvSpPr>
          <p:cNvPr id="26" name="Text 20"/>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27" name="Text 21"/>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CHOIX TECHNIQUES</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Nos choix, et pourquoi</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58280"/>
          <a:ext cx="10553700" cy="2063750"/>
        </p:xfrm>
        <a:graphic>
          <a:graphicData uri="http://schemas.openxmlformats.org/drawingml/2006/table">
            <a:tbl>
              <a:tblPr/>
              <a:tblGrid>
                <a:gridCol w="1477518"/>
                <a:gridCol w="3799332"/>
                <a:gridCol w="5276850"/>
              </a:tblGrid>
              <a:tr h="412750">
                <a:tc>
                  <a:txBody>
                    <a:bodyPr/>
                    <a:lstStyle/>
                    <a:p>
                      <a:pPr indent="0" marL="0">
                        <a:lnSpc>
                          <a:spcPts val="2100"/>
                        </a:lnSpc>
                        <a:buNone/>
                      </a:pPr>
                      <a:r>
                        <a:rPr lang="en-US" sz="1500" b="1" dirty="0">
                          <a:solidFill>
                            <a:srgbClr val="16212B"/>
                          </a:solidFill>
                          <a:latin typeface="DM Sans" pitchFamily="34" charset="0"/>
                          <a:ea typeface="DM Sans" pitchFamily="34" charset="-122"/>
                          <a:cs typeface="DM Sans" pitchFamily="34" charset="-120"/>
                        </a:rPr>
                        <a:t>Brique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100"/>
                        </a:lnSpc>
                        <a:buNone/>
                      </a:pPr>
                      <a:r>
                        <a:rPr lang="en-US" sz="1500" b="1" dirty="0">
                          <a:solidFill>
                            <a:srgbClr val="16212B"/>
                          </a:solidFill>
                          <a:latin typeface="DM Sans" pitchFamily="34" charset="0"/>
                          <a:ea typeface="DM Sans" pitchFamily="34" charset="-122"/>
                          <a:cs typeface="DM Sans" pitchFamily="34" charset="-120"/>
                        </a:rPr>
                        <a:t>Choix</a:t>
                      </a:r>
                      <a:endParaRPr lang="en-US" sz="1500" dirty="0">
                        <a:latin typeface="DM Sans" charset="0"/>
                        <a:ea typeface="DM Sans" charset="0"/>
                        <a:cs typeface="DM Sans" charset="0"/>
                      </a:endParaRPr>
                    </a:p>
                  </a:txBody>
                  <a:tcPr marL="66675" marR="66675" marT="66675" marB="6667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100"/>
                        </a:lnSpc>
                        <a:buNone/>
                      </a:pPr>
                      <a:r>
                        <a:rPr lang="en-US" sz="1500" b="1" dirty="0">
                          <a:solidFill>
                            <a:srgbClr val="16212B"/>
                          </a:solidFill>
                          <a:latin typeface="DM Sans" pitchFamily="34" charset="0"/>
                          <a:ea typeface="DM Sans" pitchFamily="34" charset="-122"/>
                          <a:cs typeface="DM Sans" pitchFamily="34" charset="-120"/>
                        </a:rPr>
                        <a:t>Pourquoi</a:t>
                      </a:r>
                      <a:endParaRPr lang="en-US" sz="1500" dirty="0">
                        <a:latin typeface="DM Sans" charset="0"/>
                        <a:ea typeface="DM Sans" charset="0"/>
                        <a:cs typeface="DM Sans" charset="0"/>
                      </a:endParaRPr>
                    </a:p>
                  </a:txBody>
                  <a:tcPr marL="66675" marR="66675" marT="66675" marB="6667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12750">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VAD</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Silero, en local</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Léger : moins de 1 ms par trame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STT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Whisper large-v3-turbo</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Serveur distant ≈ 0,45 s par énoncé</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LLM</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DeepSeek V4.1 Flash</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Premier mot en ≈ 0,3 s, recherche web</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TTS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MiniMax speech-2.8-turbo</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Voix française validée à l’écoute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4326830"/>
            <a:ext cx="10566400" cy="939800"/>
          </a:xfrm>
          <a:prstGeom prst="roundRect">
            <a:avLst>
              <a:gd name="adj" fmla="val 10811"/>
            </a:avLst>
          </a:prstGeom>
          <a:solidFill>
            <a:srgbClr val="E3EFEA"/>
          </a:solidFill>
          <a:ln/>
        </p:spPr>
        <p:txBody>
          <a:bodyPr wrap="square" lIns="224242" tIns="173442" rIns="0" bIns="148042" rtlCol="0" anchor="t">
            <a:normAutofit/>
          </a:bodyPr>
          <a:lstStyle/>
          <a:p>
            <a:pPr algn="l" indent="0" marL="0">
              <a:lnSpc>
                <a:spcPts val="2100"/>
              </a:lnSpc>
              <a:buNone/>
            </a:pPr>
            <a:r>
              <a:rPr lang="en-US" sz="1500" b="1" dirty="0">
                <a:solidFill>
                  <a:srgbClr val="16212B"/>
                </a:solidFill>
                <a:latin typeface="DM Sans" pitchFamily="34" charset="0"/>
                <a:ea typeface="DM Sans" pitchFamily="34" charset="-122"/>
                <a:cs typeface="DM Sans" pitchFamily="34" charset="-120"/>
              </a:rPr>
              <a:t>Pourquoi une cascade ?</a:t>
            </a:r>
            <a:r>
              <a:rPr lang="en-US" sz="1500" dirty="0">
                <a:solidFill>
                  <a:srgbClr val="16212B"/>
                </a:solidFill>
                <a:latin typeface="DM Sans" pitchFamily="34" charset="0"/>
                <a:ea typeface="DM Sans" pitchFamily="34" charset="-122"/>
                <a:cs typeface="DM Sans" pitchFamily="34" charset="-120"/>
              </a:rPr>
              <a:t> Chaque étape se mesure et se remplace. Un modèle voix-à-voix serait une boîte noire, impossible à chronométrer étape par étape.</a:t>
            </a:r>
            <a:endParaRPr lang="en-US" sz="1500" dirty="0"/>
          </a:p>
        </p:txBody>
      </p:sp>
      <p:sp>
        <p:nvSpPr>
          <p:cNvPr id="6" name="Text 3"/>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7" name="Text 4"/>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LATENCE</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Gagner (et masquer) du temps</a:t>
            </a:r>
            <a:endParaRPr lang="en-US" sz="3600" dirty="0"/>
          </a:p>
        </p:txBody>
      </p:sp>
      <p:sp>
        <p:nvSpPr>
          <p:cNvPr id="4" name="Shape 2"/>
          <p:cNvSpPr/>
          <p:nvPr/>
        </p:nvSpPr>
        <p:spPr>
          <a:xfrm>
            <a:off x="815975" y="1948755"/>
            <a:ext cx="5175250" cy="1377950"/>
          </a:xfrm>
          <a:prstGeom prst="roundRect">
            <a:avLst>
              <a:gd name="adj" fmla="val 7143"/>
            </a:avLst>
          </a:prstGeom>
          <a:solidFill>
            <a:srgbClr val="FDFCF8"/>
          </a:solidFill>
          <a:ln w="6350">
            <a:solidFill>
              <a:srgbClr val="E1DDD1"/>
            </a:solidFill>
            <a:prstDash val="solid"/>
          </a:ln>
        </p:spPr>
      </p:sp>
      <p:sp>
        <p:nvSpPr>
          <p:cNvPr id="5" name="Text 3"/>
          <p:cNvSpPr/>
          <p:nvPr/>
        </p:nvSpPr>
        <p:spPr>
          <a:xfrm>
            <a:off x="1073150" y="218053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Streaming par phrases</a:t>
            </a:r>
            <a:endParaRPr lang="en-US" sz="2000" dirty="0"/>
          </a:p>
        </p:txBody>
      </p:sp>
      <p:sp>
        <p:nvSpPr>
          <p:cNvPr id="6" name="Text 4"/>
          <p:cNvSpPr/>
          <p:nvPr/>
        </p:nvSpPr>
        <p:spPr>
          <a:xfrm>
            <a:off x="1073150" y="256153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La voix démarre dès la première phrase du LLM, sans attendre la fin.</a:t>
            </a:r>
            <a:endParaRPr lang="en-US" sz="1500" dirty="0"/>
          </a:p>
        </p:txBody>
      </p:sp>
      <p:sp>
        <p:nvSpPr>
          <p:cNvPr id="7" name="Shape 5"/>
          <p:cNvSpPr/>
          <p:nvPr/>
        </p:nvSpPr>
        <p:spPr>
          <a:xfrm>
            <a:off x="6200775" y="1948755"/>
            <a:ext cx="5175250" cy="1377950"/>
          </a:xfrm>
          <a:prstGeom prst="roundRect">
            <a:avLst>
              <a:gd name="adj" fmla="val 7143"/>
            </a:avLst>
          </a:prstGeom>
          <a:solidFill>
            <a:srgbClr val="FDFCF8"/>
          </a:solidFill>
          <a:ln w="6350">
            <a:solidFill>
              <a:srgbClr val="E1DDD1"/>
            </a:solidFill>
            <a:prstDash val="solid"/>
          </a:ln>
        </p:spPr>
      </p:sp>
      <p:sp>
        <p:nvSpPr>
          <p:cNvPr id="8" name="Text 6"/>
          <p:cNvSpPr/>
          <p:nvPr/>
        </p:nvSpPr>
        <p:spPr>
          <a:xfrm>
            <a:off x="6457950" y="218053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STT spéculatif</a:t>
            </a:r>
            <a:endParaRPr lang="en-US" sz="2000" dirty="0"/>
          </a:p>
        </p:txBody>
      </p:sp>
      <p:sp>
        <p:nvSpPr>
          <p:cNvPr id="9" name="Text 7"/>
          <p:cNvSpPr/>
          <p:nvPr/>
        </p:nvSpPr>
        <p:spPr>
          <a:xfrm>
            <a:off x="6457950" y="256153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La transcription part après 200 ms de silence, avant la fin de tour : ≈ 260 ms gagnés.</a:t>
            </a:r>
            <a:endParaRPr lang="en-US" sz="1500" dirty="0"/>
          </a:p>
        </p:txBody>
      </p:sp>
      <p:sp>
        <p:nvSpPr>
          <p:cNvPr id="10" name="Shape 8"/>
          <p:cNvSpPr/>
          <p:nvPr/>
        </p:nvSpPr>
        <p:spPr>
          <a:xfrm>
            <a:off x="815975" y="3536255"/>
            <a:ext cx="5175250" cy="1377950"/>
          </a:xfrm>
          <a:prstGeom prst="roundRect">
            <a:avLst>
              <a:gd name="adj" fmla="val 7143"/>
            </a:avLst>
          </a:prstGeom>
          <a:solidFill>
            <a:srgbClr val="FDFCF8"/>
          </a:solidFill>
          <a:ln w="6350">
            <a:solidFill>
              <a:srgbClr val="E1DDD1"/>
            </a:solidFill>
            <a:prstDash val="solid"/>
          </a:ln>
        </p:spPr>
      </p:sp>
      <p:sp>
        <p:nvSpPr>
          <p:cNvPr id="11" name="Text 9"/>
          <p:cNvSpPr/>
          <p:nvPr/>
        </p:nvSpPr>
        <p:spPr>
          <a:xfrm>
            <a:off x="1073150" y="376803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Accroche d’ouverture</a:t>
            </a:r>
            <a:endParaRPr lang="en-US" sz="2000" dirty="0"/>
          </a:p>
        </p:txBody>
      </p:sp>
      <p:sp>
        <p:nvSpPr>
          <p:cNvPr id="12" name="Text 10"/>
          <p:cNvSpPr/>
          <p:nvPr/>
        </p:nvSpPr>
        <p:spPr>
          <a:xfrm>
            <a:off x="1073150" y="414903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Une courte phrase pré-enregistrée (« Hmm, voyons. ») : premier son en ≈ 0,5 s.</a:t>
            </a:r>
            <a:endParaRPr lang="en-US" sz="1500" dirty="0"/>
          </a:p>
        </p:txBody>
      </p:sp>
      <p:sp>
        <p:nvSpPr>
          <p:cNvPr id="13" name="Shape 11"/>
          <p:cNvSpPr/>
          <p:nvPr/>
        </p:nvSpPr>
        <p:spPr>
          <a:xfrm>
            <a:off x="6200775" y="3536255"/>
            <a:ext cx="5175250" cy="1377950"/>
          </a:xfrm>
          <a:prstGeom prst="roundRect">
            <a:avLst>
              <a:gd name="adj" fmla="val 7143"/>
            </a:avLst>
          </a:prstGeom>
          <a:solidFill>
            <a:srgbClr val="FDFCF8"/>
          </a:solidFill>
          <a:ln w="6350">
            <a:solidFill>
              <a:srgbClr val="E1DDD1"/>
            </a:solidFill>
            <a:prstDash val="solid"/>
          </a:ln>
        </p:spPr>
      </p:sp>
      <p:sp>
        <p:nvSpPr>
          <p:cNvPr id="14" name="Text 12"/>
          <p:cNvSpPr/>
          <p:nvPr/>
        </p:nvSpPr>
        <p:spPr>
          <a:xfrm>
            <a:off x="6457950" y="376803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Préchauffage</a:t>
            </a:r>
            <a:endParaRPr lang="en-US" sz="2000" dirty="0"/>
          </a:p>
        </p:txBody>
      </p:sp>
      <p:sp>
        <p:nvSpPr>
          <p:cNvPr id="15" name="Text 13"/>
          <p:cNvSpPr/>
          <p:nvPr/>
        </p:nvSpPr>
        <p:spPr>
          <a:xfrm>
            <a:off x="6457950" y="414903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5"/>
                </a:solidFill>
                <a:latin typeface="DM Sans" pitchFamily="34" charset="0"/>
                <a:ea typeface="DM Sans" pitchFamily="34" charset="-122"/>
                <a:cs typeface="DM Sans" pitchFamily="34" charset="-120"/>
              </a:rPr>
              <a:t>Le premier appel au Whisper de l’école a pris 35 s à froid : on le chauffe au démarrage.</a:t>
            </a:r>
            <a:endParaRPr lang="en-US" sz="1500" dirty="0"/>
          </a:p>
        </p:txBody>
      </p:sp>
      <p:sp>
        <p:nvSpPr>
          <p:cNvPr id="16" name="Text 14"/>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17" name="Text 1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BARGE-IN</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On peut lui couper la parole</a:t>
            </a:r>
            <a:endParaRPr lang="en-US" sz="3600" dirty="0"/>
          </a:p>
        </p:txBody>
      </p:sp>
      <p:sp>
        <p:nvSpPr>
          <p:cNvPr id="4" name="Shape 2"/>
          <p:cNvSpPr/>
          <p:nvPr/>
        </p:nvSpPr>
        <p:spPr>
          <a:xfrm>
            <a:off x="815975" y="1948755"/>
            <a:ext cx="2482850" cy="2393801"/>
          </a:xfrm>
          <a:prstGeom prst="roundRect">
            <a:avLst>
              <a:gd name="adj" fmla="val 4112"/>
            </a:avLst>
          </a:prstGeom>
          <a:solidFill>
            <a:srgbClr val="FDFCF8"/>
          </a:solidFill>
          <a:ln w="6350">
            <a:solidFill>
              <a:srgbClr val="E1DDD1"/>
            </a:solidFill>
            <a:prstDash val="solid"/>
          </a:ln>
        </p:spPr>
      </p:sp>
      <p:sp>
        <p:nvSpPr>
          <p:cNvPr id="5" name="Text 3"/>
          <p:cNvSpPr/>
          <p:nvPr/>
        </p:nvSpPr>
        <p:spPr>
          <a:xfrm>
            <a:off x="1073150" y="2205930"/>
            <a:ext cx="202755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F7B6C"/>
                </a:solidFill>
                <a:latin typeface="DM Sans" pitchFamily="34" charset="0"/>
                <a:ea typeface="DM Sans" pitchFamily="34" charset="-122"/>
                <a:cs typeface="DM Sans" pitchFamily="34" charset="-120"/>
              </a:rPr>
              <a:t>1</a:t>
            </a:r>
            <a:endParaRPr lang="en-US" sz="3200" dirty="0"/>
          </a:p>
        </p:txBody>
      </p:sp>
      <p:sp>
        <p:nvSpPr>
          <p:cNvPr id="6" name="Text 4"/>
          <p:cNvSpPr/>
          <p:nvPr/>
        </p:nvSpPr>
        <p:spPr>
          <a:xfrm>
            <a:off x="1073150" y="2713930"/>
            <a:ext cx="202755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2B"/>
                </a:solidFill>
                <a:latin typeface="DM Sans" pitchFamily="34" charset="0"/>
                <a:ea typeface="DM Sans" pitchFamily="34" charset="-122"/>
                <a:cs typeface="DM Sans" pitchFamily="34" charset="-120"/>
              </a:rPr>
              <a:t>Il entend</a:t>
            </a:r>
            <a:endParaRPr lang="en-US" sz="1800" dirty="0"/>
          </a:p>
        </p:txBody>
      </p:sp>
      <p:sp>
        <p:nvSpPr>
          <p:cNvPr id="7" name="Text 5"/>
          <p:cNvSpPr/>
          <p:nvPr/>
        </p:nvSpPr>
        <p:spPr>
          <a:xfrm>
            <a:off x="1073150" y="3089821"/>
            <a:ext cx="2027555"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5"/>
                </a:solidFill>
                <a:latin typeface="DM Sans" pitchFamily="34" charset="0"/>
                <a:ea typeface="DM Sans" pitchFamily="34" charset="-122"/>
                <a:cs typeface="DM Sans" pitchFamily="34" charset="-120"/>
              </a:rPr>
              <a:t>Le VAD reste actif quand l’agent parle ; il faut ≈ 300 ms de parole franche.</a:t>
            </a:r>
            <a:endParaRPr lang="en-US" sz="1400" dirty="0"/>
          </a:p>
        </p:txBody>
      </p:sp>
      <p:sp>
        <p:nvSpPr>
          <p:cNvPr id="8" name="Shape 6"/>
          <p:cNvSpPr/>
          <p:nvPr/>
        </p:nvSpPr>
        <p:spPr>
          <a:xfrm>
            <a:off x="3508375" y="1948755"/>
            <a:ext cx="2482850" cy="2393801"/>
          </a:xfrm>
          <a:prstGeom prst="roundRect">
            <a:avLst>
              <a:gd name="adj" fmla="val 4112"/>
            </a:avLst>
          </a:prstGeom>
          <a:solidFill>
            <a:srgbClr val="FDFCF8"/>
          </a:solidFill>
          <a:ln w="6350">
            <a:solidFill>
              <a:srgbClr val="E1DDD1"/>
            </a:solidFill>
            <a:prstDash val="solid"/>
          </a:ln>
        </p:spPr>
      </p:sp>
      <p:sp>
        <p:nvSpPr>
          <p:cNvPr id="9" name="Text 7"/>
          <p:cNvSpPr/>
          <p:nvPr/>
        </p:nvSpPr>
        <p:spPr>
          <a:xfrm>
            <a:off x="3765550" y="2205930"/>
            <a:ext cx="202755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F7B6C"/>
                </a:solidFill>
                <a:latin typeface="DM Sans" pitchFamily="34" charset="0"/>
                <a:ea typeface="DM Sans" pitchFamily="34" charset="-122"/>
                <a:cs typeface="DM Sans" pitchFamily="34" charset="-120"/>
              </a:rPr>
              <a:t>2</a:t>
            </a:r>
            <a:endParaRPr lang="en-US" sz="3200" dirty="0"/>
          </a:p>
        </p:txBody>
      </p:sp>
      <p:sp>
        <p:nvSpPr>
          <p:cNvPr id="10" name="Text 8"/>
          <p:cNvSpPr/>
          <p:nvPr/>
        </p:nvSpPr>
        <p:spPr>
          <a:xfrm>
            <a:off x="3765550" y="2713930"/>
            <a:ext cx="202755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2B"/>
                </a:solidFill>
                <a:latin typeface="DM Sans" pitchFamily="34" charset="0"/>
                <a:ea typeface="DM Sans" pitchFamily="34" charset="-122"/>
                <a:cs typeface="DM Sans" pitchFamily="34" charset="-120"/>
              </a:rPr>
              <a:t>Il se tait</a:t>
            </a:r>
            <a:endParaRPr lang="en-US" sz="1800" dirty="0"/>
          </a:p>
        </p:txBody>
      </p:sp>
      <p:sp>
        <p:nvSpPr>
          <p:cNvPr id="11" name="Text 9"/>
          <p:cNvSpPr/>
          <p:nvPr/>
        </p:nvSpPr>
        <p:spPr>
          <a:xfrm>
            <a:off x="3765550" y="3089821"/>
            <a:ext cx="2027555"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5"/>
                </a:solidFill>
                <a:latin typeface="DM Sans" pitchFamily="34" charset="0"/>
                <a:ea typeface="DM Sans" pitchFamily="34" charset="-122"/>
                <a:cs typeface="DM Sans" pitchFamily="34" charset="-120"/>
              </a:rPr>
              <a:t>Le LLM et le TTS sont annulés, la lecture s’arrête côté navigateur.</a:t>
            </a:r>
            <a:endParaRPr lang="en-US" sz="1400" dirty="0"/>
          </a:p>
        </p:txBody>
      </p:sp>
      <p:sp>
        <p:nvSpPr>
          <p:cNvPr id="12" name="Shape 10"/>
          <p:cNvSpPr/>
          <p:nvPr/>
        </p:nvSpPr>
        <p:spPr>
          <a:xfrm>
            <a:off x="6200775" y="1948755"/>
            <a:ext cx="2482850" cy="2393801"/>
          </a:xfrm>
          <a:prstGeom prst="roundRect">
            <a:avLst>
              <a:gd name="adj" fmla="val 4112"/>
            </a:avLst>
          </a:prstGeom>
          <a:solidFill>
            <a:srgbClr val="FDFCF8"/>
          </a:solidFill>
          <a:ln w="6350">
            <a:solidFill>
              <a:srgbClr val="E1DDD1"/>
            </a:solidFill>
            <a:prstDash val="solid"/>
          </a:ln>
        </p:spPr>
      </p:sp>
      <p:sp>
        <p:nvSpPr>
          <p:cNvPr id="13" name="Text 11"/>
          <p:cNvSpPr/>
          <p:nvPr/>
        </p:nvSpPr>
        <p:spPr>
          <a:xfrm>
            <a:off x="6457950" y="2205930"/>
            <a:ext cx="202755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F7B6C"/>
                </a:solidFill>
                <a:latin typeface="DM Sans" pitchFamily="34" charset="0"/>
                <a:ea typeface="DM Sans" pitchFamily="34" charset="-122"/>
                <a:cs typeface="DM Sans" pitchFamily="34" charset="-120"/>
              </a:rPr>
              <a:t>3</a:t>
            </a:r>
            <a:endParaRPr lang="en-US" sz="3200" dirty="0"/>
          </a:p>
        </p:txBody>
      </p:sp>
      <p:sp>
        <p:nvSpPr>
          <p:cNvPr id="14" name="Text 12"/>
          <p:cNvSpPr/>
          <p:nvPr/>
        </p:nvSpPr>
        <p:spPr>
          <a:xfrm>
            <a:off x="6457950" y="2713930"/>
            <a:ext cx="202755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2B"/>
                </a:solidFill>
                <a:latin typeface="DM Sans" pitchFamily="34" charset="0"/>
                <a:ea typeface="DM Sans" pitchFamily="34" charset="-122"/>
                <a:cs typeface="DM Sans" pitchFamily="34" charset="-120"/>
              </a:rPr>
              <a:t>Il oublie</a:t>
            </a:r>
            <a:endParaRPr lang="en-US" sz="1800" dirty="0"/>
          </a:p>
        </p:txBody>
      </p:sp>
      <p:sp>
        <p:nvSpPr>
          <p:cNvPr id="15" name="Text 13"/>
          <p:cNvSpPr/>
          <p:nvPr/>
        </p:nvSpPr>
        <p:spPr>
          <a:xfrm>
            <a:off x="6457950" y="3089821"/>
            <a:ext cx="202755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5"/>
                </a:solidFill>
                <a:latin typeface="DM Sans" pitchFamily="34" charset="0"/>
                <a:ea typeface="DM Sans" pitchFamily="34" charset="-122"/>
                <a:cs typeface="DM Sans" pitchFamily="34" charset="-120"/>
              </a:rPr>
              <a:t>La mémoire ne garde que ce que l’utilisateur a vraiment entendu.</a:t>
            </a:r>
            <a:endParaRPr lang="en-US" sz="1400" dirty="0"/>
          </a:p>
        </p:txBody>
      </p:sp>
      <p:sp>
        <p:nvSpPr>
          <p:cNvPr id="16" name="Shape 14"/>
          <p:cNvSpPr/>
          <p:nvPr/>
        </p:nvSpPr>
        <p:spPr>
          <a:xfrm>
            <a:off x="8893175" y="1948755"/>
            <a:ext cx="2482850" cy="2393801"/>
          </a:xfrm>
          <a:prstGeom prst="roundRect">
            <a:avLst>
              <a:gd name="adj" fmla="val 4112"/>
            </a:avLst>
          </a:prstGeom>
          <a:solidFill>
            <a:srgbClr val="FDFCF8"/>
          </a:solidFill>
          <a:ln w="6350">
            <a:solidFill>
              <a:srgbClr val="E1DDD1"/>
            </a:solidFill>
            <a:prstDash val="solid"/>
          </a:ln>
        </p:spPr>
      </p:sp>
      <p:sp>
        <p:nvSpPr>
          <p:cNvPr id="17" name="Text 15"/>
          <p:cNvSpPr/>
          <p:nvPr/>
        </p:nvSpPr>
        <p:spPr>
          <a:xfrm>
            <a:off x="9150350" y="2205930"/>
            <a:ext cx="202755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F7B6C"/>
                </a:solidFill>
                <a:latin typeface="DM Sans" pitchFamily="34" charset="0"/>
                <a:ea typeface="DM Sans" pitchFamily="34" charset="-122"/>
                <a:cs typeface="DM Sans" pitchFamily="34" charset="-120"/>
              </a:rPr>
              <a:t>4</a:t>
            </a:r>
            <a:endParaRPr lang="en-US" sz="3200" dirty="0"/>
          </a:p>
        </p:txBody>
      </p:sp>
      <p:sp>
        <p:nvSpPr>
          <p:cNvPr id="18" name="Text 16"/>
          <p:cNvSpPr/>
          <p:nvPr/>
        </p:nvSpPr>
        <p:spPr>
          <a:xfrm>
            <a:off x="9150350" y="2713930"/>
            <a:ext cx="202755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2B"/>
                </a:solidFill>
                <a:latin typeface="DM Sans" pitchFamily="34" charset="0"/>
                <a:ea typeface="DM Sans" pitchFamily="34" charset="-122"/>
                <a:cs typeface="DM Sans" pitchFamily="34" charset="-120"/>
              </a:rPr>
              <a:t>Il écoute</a:t>
            </a:r>
            <a:endParaRPr lang="en-US" sz="1800" dirty="0"/>
          </a:p>
        </p:txBody>
      </p:sp>
      <p:sp>
        <p:nvSpPr>
          <p:cNvPr id="19" name="Text 17"/>
          <p:cNvSpPr/>
          <p:nvPr/>
        </p:nvSpPr>
        <p:spPr>
          <a:xfrm>
            <a:off x="9150350" y="3089821"/>
            <a:ext cx="202755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5"/>
                </a:solidFill>
                <a:latin typeface="DM Sans" pitchFamily="34" charset="0"/>
                <a:ea typeface="DM Sans" pitchFamily="34" charset="-122"/>
                <a:cs typeface="DM Sans" pitchFamily="34" charset="-120"/>
              </a:rPr>
              <a:t>Le début de la phrase est conservé, rien n’est perdu.</a:t>
            </a:r>
            <a:endParaRPr lang="en-US" sz="1400" dirty="0"/>
          </a:p>
        </p:txBody>
      </p:sp>
      <p:sp>
        <p:nvSpPr>
          <p:cNvPr id="20" name="Text 18"/>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21" name="Text 1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POURQUOI C’EST UTILE</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Demander plutôt que chercher</a:t>
            </a:r>
            <a:endParaRPr lang="en-US" sz="3600" dirty="0"/>
          </a:p>
        </p:txBody>
      </p:sp>
      <p:sp>
        <p:nvSpPr>
          <p:cNvPr id="4" name="Shape 2"/>
          <p:cNvSpPr/>
          <p:nvPr/>
        </p:nvSpPr>
        <p:spPr>
          <a:xfrm>
            <a:off x="815975" y="1948755"/>
            <a:ext cx="5175250" cy="2576810"/>
          </a:xfrm>
          <a:prstGeom prst="roundRect">
            <a:avLst>
              <a:gd name="adj" fmla="val 3820"/>
            </a:avLst>
          </a:prstGeom>
          <a:solidFill>
            <a:srgbClr val="FDFCF8"/>
          </a:solidFill>
          <a:ln w="6350">
            <a:solidFill>
              <a:srgbClr val="E1DDD1"/>
            </a:solidFill>
            <a:prstDash val="solid"/>
          </a:ln>
        </p:spPr>
      </p:sp>
      <p:sp>
        <p:nvSpPr>
          <p:cNvPr id="5" name="Text 3"/>
          <p:cNvSpPr/>
          <p:nvPr/>
        </p:nvSpPr>
        <p:spPr>
          <a:xfrm>
            <a:off x="1073150" y="2205930"/>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7B6C"/>
                </a:solidFill>
                <a:latin typeface="DM Sans" pitchFamily="34" charset="0"/>
                <a:ea typeface="DM Sans" pitchFamily="34" charset="-122"/>
                <a:cs typeface="DM Sans" pitchFamily="34" charset="-120"/>
              </a:rPr>
              <a:t>Du temps gagné</a:t>
            </a:r>
            <a:endParaRPr lang="en-US" sz="2200" dirty="0"/>
          </a:p>
        </p:txBody>
      </p:sp>
      <p:sp>
        <p:nvSpPr>
          <p:cNvPr id="6" name="Text 4"/>
          <p:cNvSpPr/>
          <p:nvPr/>
        </p:nvSpPr>
        <p:spPr>
          <a:xfrm>
            <a:off x="1144270" y="2668191"/>
            <a:ext cx="4721987" cy="16256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On parle bien plus vite qu’on ne tape : une phrase suffit.</a:t>
            </a:r>
            <a:endParaRPr lang="en-US" sz="1500" dirty="0"/>
          </a:p>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La réponse s’écoute en faisant autre chose, sans lire un écran.</a:t>
            </a:r>
            <a:endParaRPr lang="en-US" sz="1500" dirty="0"/>
          </a:p>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L’agent cherche sur internet à votre place et vous dit ce qu’il fait.</a:t>
            </a:r>
            <a:endParaRPr lang="en-US" sz="1500" dirty="0"/>
          </a:p>
        </p:txBody>
      </p:sp>
      <p:sp>
        <p:nvSpPr>
          <p:cNvPr id="7" name="Shape 5"/>
          <p:cNvSpPr/>
          <p:nvPr/>
        </p:nvSpPr>
        <p:spPr>
          <a:xfrm>
            <a:off x="6200775" y="1948755"/>
            <a:ext cx="5175250" cy="2576810"/>
          </a:xfrm>
          <a:prstGeom prst="roundRect">
            <a:avLst>
              <a:gd name="adj" fmla="val 3820"/>
            </a:avLst>
          </a:prstGeom>
          <a:solidFill>
            <a:srgbClr val="FDFCF8"/>
          </a:solidFill>
          <a:ln w="6350">
            <a:solidFill>
              <a:srgbClr val="E1DDD1"/>
            </a:solidFill>
            <a:prstDash val="solid"/>
          </a:ln>
        </p:spPr>
      </p:sp>
      <p:sp>
        <p:nvSpPr>
          <p:cNvPr id="8" name="Text 6"/>
          <p:cNvSpPr/>
          <p:nvPr/>
        </p:nvSpPr>
        <p:spPr>
          <a:xfrm>
            <a:off x="6457950" y="2205930"/>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7B6C"/>
                </a:solidFill>
                <a:latin typeface="DM Sans" pitchFamily="34" charset="0"/>
                <a:ea typeface="DM Sans" pitchFamily="34" charset="-122"/>
                <a:cs typeface="DM Sans" pitchFamily="34" charset="-120"/>
              </a:rPr>
              <a:t>Plus accessible</a:t>
            </a:r>
            <a:endParaRPr lang="en-US" sz="2200" dirty="0"/>
          </a:p>
        </p:txBody>
      </p:sp>
      <p:sp>
        <p:nvSpPr>
          <p:cNvPr id="9" name="Text 7"/>
          <p:cNvSpPr/>
          <p:nvPr/>
        </p:nvSpPr>
        <p:spPr>
          <a:xfrm>
            <a:off x="6529070" y="2668191"/>
            <a:ext cx="4721987" cy="16256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Aucun clavier ni écran nécessaire : mains occupées, vue ou dextérité limitées.</a:t>
            </a:r>
            <a:endParaRPr lang="en-US" sz="1500" dirty="0"/>
          </a:p>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On le coupe comme on couperait quelqu’un : pas besoin d’attendre la fin.</a:t>
            </a:r>
            <a:endParaRPr lang="en-US" sz="1500" dirty="0"/>
          </a:p>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Si la voix lâche, le clavier prend le relais : personne n’est bloqué.</a:t>
            </a:r>
            <a:endParaRPr lang="en-US" sz="1500" dirty="0"/>
          </a:p>
        </p:txBody>
      </p:sp>
      <p:sp>
        <p:nvSpPr>
          <p:cNvPr id="10" name="Text 8"/>
          <p:cNvSpPr/>
          <p:nvPr/>
        </p:nvSpPr>
        <p:spPr>
          <a:xfrm>
            <a:off x="812800" y="483354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0B5E52"/>
                </a:solidFill>
                <a:latin typeface="DM Sans" pitchFamily="34" charset="0"/>
                <a:ea typeface="DM Sans" pitchFamily="34" charset="-122"/>
                <a:cs typeface="DM Sans" pitchFamily="34" charset="-120"/>
              </a:rPr>
              <a:t>Parler à une machine devrait être aussi naturel que parler à quelqu’un.</a:t>
            </a:r>
            <a:endParaRPr lang="en-US" sz="1800" dirty="0"/>
          </a:p>
        </p:txBody>
      </p:sp>
      <p:sp>
        <p:nvSpPr>
          <p:cNvPr id="11" name="Text 9"/>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12" name="Text 10"/>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DM Sans" pitchFamily="34" charset="0"/>
                <a:ea typeface="DM Sans" pitchFamily="34" charset="-122"/>
                <a:cs typeface="DM Sans" pitchFamily="34" charset="-120"/>
              </a:rPr>
              <a:t>MESURES</a:t>
            </a:r>
            <a:endParaRPr lang="en-US" sz="1400" dirty="0"/>
          </a:p>
        </p:txBody>
      </p:sp>
      <p:sp>
        <p:nvSpPr>
          <p:cNvPr id="3" name="Text 1"/>
          <p:cNvSpPr/>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FEDE6"/>
                </a:solidFill>
                <a:latin typeface="DM Sans" pitchFamily="34" charset="0"/>
                <a:ea typeface="DM Sans" pitchFamily="34" charset="-122"/>
                <a:cs typeface="DM Sans" pitchFamily="34" charset="-120"/>
              </a:rPr>
              <a:t>Ce que ça donne</a:t>
            </a:r>
            <a:endParaRPr lang="en-US" sz="3600" dirty="0"/>
          </a:p>
        </p:txBody>
      </p:sp>
      <p:sp>
        <p:nvSpPr>
          <p:cNvPr id="4" name="Shape 2"/>
          <p:cNvSpPr/>
          <p:nvPr/>
        </p:nvSpPr>
        <p:spPr>
          <a:xfrm>
            <a:off x="815975" y="1948755"/>
            <a:ext cx="5175250" cy="1406525"/>
          </a:xfrm>
          <a:prstGeom prst="roundRect">
            <a:avLst>
              <a:gd name="adj" fmla="val 6998"/>
            </a:avLst>
          </a:prstGeom>
          <a:solidFill>
            <a:srgbClr val="1D2E3D"/>
          </a:solidFill>
          <a:ln w="6350">
            <a:solidFill>
              <a:srgbClr val="2C4256"/>
            </a:solidFill>
            <a:prstDash val="solid"/>
          </a:ln>
        </p:spPr>
      </p:sp>
      <p:sp>
        <p:nvSpPr>
          <p:cNvPr id="5" name="Text 3"/>
          <p:cNvSpPr/>
          <p:nvPr/>
        </p:nvSpPr>
        <p:spPr>
          <a:xfrm>
            <a:off x="1073150" y="2180530"/>
            <a:ext cx="48007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DM Sans" pitchFamily="34" charset="0"/>
                <a:ea typeface="DM Sans" pitchFamily="34" charset="-122"/>
                <a:cs typeface="DM Sans" pitchFamily="34" charset="-120"/>
              </a:rPr>
              <a:t>2,06 s</a:t>
            </a:r>
            <a:endParaRPr lang="en-US" sz="4800" dirty="0"/>
          </a:p>
        </p:txBody>
      </p:sp>
      <p:sp>
        <p:nvSpPr>
          <p:cNvPr id="6" name="Text 4"/>
          <p:cNvSpPr/>
          <p:nvPr/>
        </p:nvSpPr>
        <p:spPr>
          <a:xfrm>
            <a:off x="1073150" y="2866330"/>
            <a:ext cx="480072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fin de parole → réponse, médiane (p95 : 2,45 s)</a:t>
            </a:r>
            <a:endParaRPr lang="en-US" sz="1500" dirty="0"/>
          </a:p>
        </p:txBody>
      </p:sp>
      <p:sp>
        <p:nvSpPr>
          <p:cNvPr id="7" name="Shape 5"/>
          <p:cNvSpPr/>
          <p:nvPr/>
        </p:nvSpPr>
        <p:spPr>
          <a:xfrm>
            <a:off x="6200775" y="1948755"/>
            <a:ext cx="5175250" cy="1406525"/>
          </a:xfrm>
          <a:prstGeom prst="roundRect">
            <a:avLst>
              <a:gd name="adj" fmla="val 6998"/>
            </a:avLst>
          </a:prstGeom>
          <a:solidFill>
            <a:srgbClr val="1D2E3D"/>
          </a:solidFill>
          <a:ln w="6350">
            <a:solidFill>
              <a:srgbClr val="2C4256"/>
            </a:solidFill>
            <a:prstDash val="solid"/>
          </a:ln>
        </p:spPr>
      </p:sp>
      <p:sp>
        <p:nvSpPr>
          <p:cNvPr id="8" name="Text 6"/>
          <p:cNvSpPr/>
          <p:nvPr/>
        </p:nvSpPr>
        <p:spPr>
          <a:xfrm>
            <a:off x="6457950" y="2180530"/>
            <a:ext cx="48007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DM Sans" pitchFamily="34" charset="0"/>
                <a:ea typeface="DM Sans" pitchFamily="34" charset="-122"/>
                <a:cs typeface="DM Sans" pitchFamily="34" charset="-120"/>
              </a:rPr>
              <a:t>0,52 s</a:t>
            </a:r>
            <a:endParaRPr lang="en-US" sz="4800" dirty="0"/>
          </a:p>
        </p:txBody>
      </p:sp>
      <p:sp>
        <p:nvSpPr>
          <p:cNvPr id="9" name="Text 7"/>
          <p:cNvSpPr/>
          <p:nvPr/>
        </p:nvSpPr>
        <p:spPr>
          <a:xfrm>
            <a:off x="6457950" y="2866330"/>
            <a:ext cx="480072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premier son avec l’accroche d’ouverture</a:t>
            </a:r>
            <a:endParaRPr lang="en-US" sz="1500" dirty="0"/>
          </a:p>
        </p:txBody>
      </p:sp>
      <p:sp>
        <p:nvSpPr>
          <p:cNvPr id="10" name="Shape 8"/>
          <p:cNvSpPr/>
          <p:nvPr/>
        </p:nvSpPr>
        <p:spPr>
          <a:xfrm>
            <a:off x="815975" y="3564830"/>
            <a:ext cx="5175250" cy="1663700"/>
          </a:xfrm>
          <a:prstGeom prst="roundRect">
            <a:avLst>
              <a:gd name="adj" fmla="val 5916"/>
            </a:avLst>
          </a:prstGeom>
          <a:solidFill>
            <a:srgbClr val="1D2E3D"/>
          </a:solidFill>
          <a:ln w="6350">
            <a:solidFill>
              <a:srgbClr val="2C4256"/>
            </a:solidFill>
            <a:prstDash val="solid"/>
          </a:ln>
        </p:spPr>
      </p:sp>
      <p:sp>
        <p:nvSpPr>
          <p:cNvPr id="11" name="Text 9"/>
          <p:cNvSpPr/>
          <p:nvPr/>
        </p:nvSpPr>
        <p:spPr>
          <a:xfrm>
            <a:off x="1073150" y="3796605"/>
            <a:ext cx="48007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DM Sans" pitchFamily="34" charset="0"/>
                <a:ea typeface="DM Sans" pitchFamily="34" charset="-122"/>
                <a:cs typeface="DM Sans" pitchFamily="34" charset="-120"/>
              </a:rPr>
              <a:t>32/32</a:t>
            </a:r>
            <a:endParaRPr lang="en-US" sz="4800" dirty="0"/>
          </a:p>
        </p:txBody>
      </p:sp>
      <p:sp>
        <p:nvSpPr>
          <p:cNvPr id="12" name="Text 10"/>
          <p:cNvSpPr/>
          <p:nvPr/>
        </p:nvSpPr>
        <p:spPr>
          <a:xfrm>
            <a:off x="1073150" y="4482405"/>
            <a:ext cx="480072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interruptions détectées à temps, médiane 372 ms (simulation hors ligne)</a:t>
            </a:r>
            <a:endParaRPr lang="en-US" sz="1500" dirty="0"/>
          </a:p>
        </p:txBody>
      </p:sp>
      <p:sp>
        <p:nvSpPr>
          <p:cNvPr id="13" name="Shape 11"/>
          <p:cNvSpPr/>
          <p:nvPr/>
        </p:nvSpPr>
        <p:spPr>
          <a:xfrm>
            <a:off x="6200775" y="3564830"/>
            <a:ext cx="5175250" cy="1663700"/>
          </a:xfrm>
          <a:prstGeom prst="roundRect">
            <a:avLst>
              <a:gd name="adj" fmla="val 5916"/>
            </a:avLst>
          </a:prstGeom>
          <a:solidFill>
            <a:srgbClr val="1D2E3D"/>
          </a:solidFill>
          <a:ln w="6350">
            <a:solidFill>
              <a:srgbClr val="2C4256"/>
            </a:solidFill>
            <a:prstDash val="solid"/>
          </a:ln>
        </p:spPr>
      </p:sp>
      <p:sp>
        <p:nvSpPr>
          <p:cNvPr id="14" name="Text 12"/>
          <p:cNvSpPr/>
          <p:nvPr/>
        </p:nvSpPr>
        <p:spPr>
          <a:xfrm>
            <a:off x="6457950" y="3796605"/>
            <a:ext cx="48007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DM Sans" pitchFamily="34" charset="0"/>
                <a:ea typeface="DM Sans" pitchFamily="34" charset="-122"/>
                <a:cs typeface="DM Sans" pitchFamily="34" charset="-120"/>
              </a:rPr>
              <a:t>≈ 0 %</a:t>
            </a:r>
            <a:endParaRPr lang="en-US" sz="4800" dirty="0"/>
          </a:p>
        </p:txBody>
      </p:sp>
      <p:sp>
        <p:nvSpPr>
          <p:cNvPr id="15" name="Text 13"/>
          <p:cNvSpPr/>
          <p:nvPr/>
        </p:nvSpPr>
        <p:spPr>
          <a:xfrm>
            <a:off x="6457950" y="4482405"/>
            <a:ext cx="480072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erreur de mots jusqu’à 5 dB de bruit</a:t>
            </a:r>
            <a:endParaRPr lang="en-US" sz="1500" dirty="0"/>
          </a:p>
        </p:txBody>
      </p:sp>
      <p:sp>
        <p:nvSpPr>
          <p:cNvPr id="16" name="Text 14"/>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DM Sans" pitchFamily="34" charset="0"/>
                <a:ea typeface="DM Sans" pitchFamily="34" charset="-122"/>
                <a:cs typeface="DM Sans" pitchFamily="34" charset="-120"/>
              </a:rPr>
              <a:t>Agent vocal temps réel</a:t>
            </a:r>
            <a:endParaRPr lang="en-US" sz="1200" dirty="0"/>
          </a:p>
        </p:txBody>
      </p:sp>
      <p:sp>
        <p:nvSpPr>
          <p:cNvPr id="17" name="Text 1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4CC"/>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6B5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DE9E2"/>
                </a:solidFill>
                <a:latin typeface="DM Sans" pitchFamily="34" charset="0"/>
                <a:ea typeface="DM Sans" pitchFamily="34" charset="-122"/>
                <a:cs typeface="DM Sans" pitchFamily="34" charset="-120"/>
              </a:rPr>
              <a:t>DÉMONSTRATION</a:t>
            </a:r>
            <a:endParaRPr lang="en-US" sz="1400" dirty="0"/>
          </a:p>
        </p:txBody>
      </p:sp>
      <p:sp>
        <p:nvSpPr>
          <p:cNvPr id="3" name="Text 1"/>
          <p:cNvSpPr/>
          <p:nvPr>
            <p:ph type="title"/>
          </p:nvPr>
        </p:nvSpPr>
        <p:spPr>
          <a:xfrm>
            <a:off x="812800" y="11378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DM Sans" pitchFamily="34" charset="0"/>
                <a:ea typeface="DM Sans" pitchFamily="34" charset="-122"/>
                <a:cs typeface="DM Sans" pitchFamily="34" charset="-120"/>
              </a:rPr>
              <a:t>En direct, dans le navigateur</a:t>
            </a:r>
            <a:endParaRPr lang="en-US" sz="4800" dirty="0"/>
          </a:p>
        </p:txBody>
      </p:sp>
      <p:sp>
        <p:nvSpPr>
          <p:cNvPr id="4" name="Text 2"/>
          <p:cNvSpPr/>
          <p:nvPr/>
        </p:nvSpPr>
        <p:spPr>
          <a:xfrm>
            <a:off x="812800" y="4396829"/>
            <a:ext cx="10883392" cy="38859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6F4EE"/>
                </a:solidFill>
                <a:latin typeface="DM Sans" pitchFamily="34" charset="0"/>
                <a:ea typeface="DM Sans" pitchFamily="34" charset="-122"/>
                <a:cs typeface="DM Sans" pitchFamily="34" charset="-120"/>
              </a:rPr>
              <a:t>1.</a:t>
            </a:r>
            <a:r>
              <a:rPr lang="en-US" sz="2200" dirty="0">
                <a:solidFill>
                  <a:srgbClr val="F6F4EE"/>
                </a:solidFill>
                <a:latin typeface="DM Sans" pitchFamily="34" charset="0"/>
                <a:ea typeface="DM Sans" pitchFamily="34" charset="-122"/>
                <a:cs typeface="DM Sans" pitchFamily="34" charset="-120"/>
              </a:rPr>
              <a:t> Une question qui demande une recherche sur internet</a:t>
            </a:r>
            <a:endParaRPr lang="en-US" sz="2200" dirty="0"/>
          </a:p>
        </p:txBody>
      </p:sp>
      <p:sp>
        <p:nvSpPr>
          <p:cNvPr id="5" name="Text 3"/>
          <p:cNvSpPr/>
          <p:nvPr/>
        </p:nvSpPr>
        <p:spPr>
          <a:xfrm>
            <a:off x="812800" y="493782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6F4EE"/>
                </a:solidFill>
                <a:latin typeface="DM Sans" pitchFamily="34" charset="0"/>
                <a:ea typeface="DM Sans" pitchFamily="34" charset="-122"/>
                <a:cs typeface="DM Sans" pitchFamily="34" charset="-120"/>
              </a:rPr>
              <a:t>2.</a:t>
            </a:r>
            <a:r>
              <a:rPr lang="en-US" sz="2200" dirty="0">
                <a:solidFill>
                  <a:srgbClr val="F6F4EE"/>
                </a:solidFill>
                <a:latin typeface="DM Sans" pitchFamily="34" charset="0"/>
                <a:ea typeface="DM Sans" pitchFamily="34" charset="-122"/>
                <a:cs typeface="DM Sans" pitchFamily="34" charset="-120"/>
              </a:rPr>
              <a:t> Couper la parole à l’agent en pleine phrase</a:t>
            </a:r>
            <a:endParaRPr lang="en-US" sz="2200" dirty="0"/>
          </a:p>
        </p:txBody>
      </p:sp>
      <p:sp>
        <p:nvSpPr>
          <p:cNvPr id="6" name="Text 4"/>
          <p:cNvSpPr/>
          <p:nvPr/>
        </p:nvSpPr>
        <p:spPr>
          <a:xfrm>
            <a:off x="812800" y="547881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6F4EE"/>
                </a:solidFill>
                <a:latin typeface="DM Sans" pitchFamily="34" charset="0"/>
                <a:ea typeface="DM Sans" pitchFamily="34" charset="-122"/>
                <a:cs typeface="DM Sans" pitchFamily="34" charset="-120"/>
              </a:rPr>
              <a:t>3.</a:t>
            </a:r>
            <a:r>
              <a:rPr lang="en-US" sz="2200" dirty="0">
                <a:solidFill>
                  <a:srgbClr val="F6F4EE"/>
                </a:solidFill>
                <a:latin typeface="DM Sans" pitchFamily="34" charset="0"/>
                <a:ea typeface="DM Sans" pitchFamily="34" charset="-122"/>
                <a:cs typeface="DM Sans" pitchFamily="34" charset="-120"/>
              </a:rPr>
              <a:t> Panne de la voix : bascule en mode texte</a:t>
            </a:r>
            <a:endParaRPr lang="en-US" sz="2200" dirty="0"/>
          </a:p>
        </p:txBody>
      </p:sp>
      <p:sp>
        <p:nvSpPr>
          <p:cNvPr id="7" name="Text 5"/>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E9E2"/>
                </a:solidFill>
                <a:latin typeface="DM Sans" pitchFamily="34" charset="0"/>
                <a:ea typeface="DM Sans" pitchFamily="34" charset="-122"/>
                <a:cs typeface="DM Sans" pitchFamily="34" charset="-120"/>
              </a:rPr>
              <a:t>Agent vocal temps réel</a:t>
            </a:r>
            <a:endParaRPr lang="en-US" sz="1200" dirty="0"/>
          </a:p>
        </p:txBody>
      </p:sp>
      <p:sp>
        <p:nvSpPr>
          <p:cNvPr id="8" name="Text 6"/>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DE9E2"/>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ROBUSTESSE</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Et si ça plante ?</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58280"/>
          <a:ext cx="10553700" cy="1651000"/>
        </p:xfrm>
        <a:graphic>
          <a:graphicData uri="http://schemas.openxmlformats.org/drawingml/2006/table">
            <a:tbl>
              <a:tblPr/>
              <a:tblGrid>
                <a:gridCol w="1477518"/>
                <a:gridCol w="3166110"/>
                <a:gridCol w="5910072"/>
              </a:tblGrid>
              <a:tr h="412750">
                <a:tc>
                  <a:txBody>
                    <a:bodyPr/>
                    <a:lstStyle/>
                    <a:p>
                      <a:pPr indent="0" marL="0">
                        <a:lnSpc>
                          <a:spcPts val="2100"/>
                        </a:lnSpc>
                        <a:buNone/>
                      </a:pPr>
                      <a:r>
                        <a:rPr lang="en-US" sz="1500" b="1" dirty="0">
                          <a:solidFill>
                            <a:srgbClr val="16212B"/>
                          </a:solidFill>
                          <a:latin typeface="DM Sans" pitchFamily="34" charset="0"/>
                          <a:ea typeface="DM Sans" pitchFamily="34" charset="-122"/>
                          <a:cs typeface="DM Sans" pitchFamily="34" charset="-120"/>
                        </a:rPr>
                        <a:t>Brique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100"/>
                        </a:lnSpc>
                        <a:buNone/>
                      </a:pPr>
                      <a:r>
                        <a:rPr lang="en-US" sz="1500" b="1" dirty="0">
                          <a:solidFill>
                            <a:srgbClr val="16212B"/>
                          </a:solidFill>
                          <a:latin typeface="DM Sans" pitchFamily="34" charset="0"/>
                          <a:ea typeface="DM Sans" pitchFamily="34" charset="-122"/>
                          <a:cs typeface="DM Sans" pitchFamily="34" charset="-120"/>
                        </a:rPr>
                        <a:t>Principal</a:t>
                      </a:r>
                      <a:endParaRPr lang="en-US" sz="1500" dirty="0">
                        <a:latin typeface="DM Sans" charset="0"/>
                        <a:ea typeface="DM Sans" charset="0"/>
                        <a:cs typeface="DM Sans" charset="0"/>
                      </a:endParaRPr>
                    </a:p>
                  </a:txBody>
                  <a:tcPr marL="66675" marR="66675" marT="66675" marB="6667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100"/>
                        </a:lnSpc>
                        <a:buNone/>
                      </a:pPr>
                      <a:r>
                        <a:rPr lang="en-US" sz="1500" b="1" dirty="0">
                          <a:solidFill>
                            <a:srgbClr val="16212B"/>
                          </a:solidFill>
                          <a:latin typeface="DM Sans" pitchFamily="34" charset="0"/>
                          <a:ea typeface="DM Sans" pitchFamily="34" charset="-122"/>
                          <a:cs typeface="DM Sans" pitchFamily="34" charset="-120"/>
                        </a:rPr>
                        <a:t>Si ça échoue</a:t>
                      </a:r>
                      <a:endParaRPr lang="en-US" sz="1500" dirty="0">
                        <a:latin typeface="DM Sans" charset="0"/>
                        <a:ea typeface="DM Sans" charset="0"/>
                        <a:cs typeface="DM Sans" charset="0"/>
                      </a:endParaRPr>
                    </a:p>
                  </a:txBody>
                  <a:tcPr marL="66675" marR="66675" marT="66675" marB="6667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12750">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STT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Whisper de l’école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Qwen3 ASR, puis mode texte après 2 échecs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LLM</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DeepSeek V4.1 Flash</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Qwen3.8 27B avant le premier mot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TTS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MiniMax</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6212B"/>
                          </a:solidFill>
                          <a:latin typeface="DM Sans" pitchFamily="34" charset="0"/>
                          <a:ea typeface="DM Sans" pitchFamily="34" charset="-122"/>
                          <a:cs typeface="DM Sans" pitchFamily="34" charset="-120"/>
                        </a:rPr>
                        <a:t>Qwen TTS, puis réponse écrite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3914080"/>
            <a:ext cx="10566400" cy="939800"/>
          </a:xfrm>
          <a:prstGeom prst="roundRect">
            <a:avLst>
              <a:gd name="adj" fmla="val 10811"/>
            </a:avLst>
          </a:prstGeom>
          <a:solidFill>
            <a:srgbClr val="E3EFEA"/>
          </a:solidFill>
          <a:ln/>
        </p:spPr>
        <p:txBody>
          <a:bodyPr wrap="square" lIns="224242" tIns="173442" rIns="0" bIns="148042" rtlCol="0" anchor="t">
            <a:normAutofit/>
          </a:bodyPr>
          <a:lstStyle/>
          <a:p>
            <a:pPr algn="l" indent="0" marL="0">
              <a:lnSpc>
                <a:spcPts val="2100"/>
              </a:lnSpc>
              <a:buNone/>
            </a:pPr>
            <a:r>
              <a:rPr lang="en-US" sz="1500" b="1" dirty="0">
                <a:solidFill>
                  <a:srgbClr val="16212B"/>
                </a:solidFill>
                <a:latin typeface="DM Sans" pitchFamily="34" charset="0"/>
                <a:ea typeface="DM Sans" pitchFamily="34" charset="-122"/>
                <a:cs typeface="DM Sans" pitchFamily="34" charset="-120"/>
              </a:rPr>
              <a:t>Et aussi :</a:t>
            </a:r>
            <a:r>
              <a:rPr lang="en-US" sz="1500" dirty="0">
                <a:solidFill>
                  <a:srgbClr val="16212B"/>
                </a:solidFill>
                <a:latin typeface="DM Sans" pitchFamily="34" charset="0"/>
                <a:ea typeface="DM Sans" pitchFamily="34" charset="-122"/>
                <a:cs typeface="DM Sans" pitchFamily="34" charset="-120"/>
              </a:rPr>
              <a:t> un bruit ou un silence mal compris ne déclenche pas de réponse parasite, et chaque appel a un délai maximum.</a:t>
            </a:r>
            <a:endParaRPr lang="en-US" sz="1500" dirty="0"/>
          </a:p>
        </p:txBody>
      </p:sp>
      <p:sp>
        <p:nvSpPr>
          <p:cNvPr id="6" name="Text 3"/>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7" name="Text 4"/>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F7B6C"/>
                </a:solidFill>
                <a:latin typeface="DM Sans" pitchFamily="34" charset="0"/>
                <a:ea typeface="DM Sans" pitchFamily="34" charset="-122"/>
                <a:cs typeface="DM Sans" pitchFamily="34" charset="-120"/>
              </a:rPr>
              <a:t>LIMITES ET SUITES</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2B"/>
                </a:solidFill>
                <a:latin typeface="DM Sans" pitchFamily="34" charset="0"/>
                <a:ea typeface="DM Sans" pitchFamily="34" charset="-122"/>
                <a:cs typeface="DM Sans" pitchFamily="34" charset="-120"/>
              </a:rPr>
              <a:t>Ce qu’on ne sait pas encore</a:t>
            </a:r>
            <a:endParaRPr lang="en-US" sz="3600" dirty="0"/>
          </a:p>
        </p:txBody>
      </p:sp>
      <p:sp>
        <p:nvSpPr>
          <p:cNvPr id="4" name="Shape 2"/>
          <p:cNvSpPr/>
          <p:nvPr/>
        </p:nvSpPr>
        <p:spPr>
          <a:xfrm>
            <a:off x="815975" y="1948755"/>
            <a:ext cx="5181600" cy="3067050"/>
          </a:xfrm>
          <a:prstGeom prst="roundRect">
            <a:avLst>
              <a:gd name="adj" fmla="val 3209"/>
            </a:avLst>
          </a:prstGeom>
          <a:solidFill>
            <a:srgbClr val="FDFCF8"/>
          </a:solidFill>
          <a:ln w="6350">
            <a:solidFill>
              <a:srgbClr val="E1DDD1"/>
            </a:solidFill>
            <a:prstDash val="solid"/>
          </a:ln>
        </p:spPr>
      </p:sp>
      <p:sp>
        <p:nvSpPr>
          <p:cNvPr id="5" name="Text 3"/>
          <p:cNvSpPr/>
          <p:nvPr/>
        </p:nvSpPr>
        <p:spPr>
          <a:xfrm>
            <a:off x="1073150" y="2205930"/>
            <a:ext cx="48072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12B"/>
                </a:solidFill>
                <a:latin typeface="DM Sans" pitchFamily="34" charset="0"/>
                <a:ea typeface="DM Sans" pitchFamily="34" charset="-122"/>
                <a:cs typeface="DM Sans" pitchFamily="34" charset="-120"/>
              </a:rPr>
              <a:t>Limites</a:t>
            </a:r>
            <a:endParaRPr lang="en-US" sz="2000" dirty="0"/>
          </a:p>
        </p:txBody>
      </p:sp>
      <p:sp>
        <p:nvSpPr>
          <p:cNvPr id="6" name="Text 4"/>
          <p:cNvSpPr/>
          <p:nvPr/>
        </p:nvSpPr>
        <p:spPr>
          <a:xfrm>
            <a:off x="1144270" y="2637730"/>
            <a:ext cx="4728527" cy="18923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Voix et bruits de synthèse, petits échantillons : le p95 reste indicatif.</a:t>
            </a:r>
            <a:endParaRPr lang="en-US" sz="1500" dirty="0"/>
          </a:p>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Français uniquement pour l’instant.</a:t>
            </a:r>
            <a:endParaRPr lang="en-US" sz="1500" dirty="0"/>
          </a:p>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Foule dense : la fin de parole n’est plus détectée dès 10 dB.</a:t>
            </a:r>
            <a:endParaRPr lang="en-US" sz="1500" dirty="0"/>
          </a:p>
          <a:p>
            <a:pPr algn="l" marL="182880" indent="-182880">
              <a:lnSpc>
                <a:spcPts val="2100"/>
              </a:lnSpc>
              <a:buSzPct val="100000"/>
              <a:buChar char="•"/>
            </a:pPr>
            <a:r>
              <a:rPr lang="en-US" sz="1500" dirty="0">
                <a:solidFill>
                  <a:srgbClr val="3E4A55"/>
                </a:solidFill>
                <a:latin typeface="DM Sans" pitchFamily="34" charset="0"/>
                <a:ea typeface="DM Sans" pitchFamily="34" charset="-122"/>
                <a:cs typeface="DM Sans" pitchFamily="34" charset="-120"/>
              </a:rPr>
              <a:t>Fin de tour à 450 ms : environ un tiers des phrases coupées dans notre lot.</a:t>
            </a:r>
            <a:endParaRPr lang="en-US" sz="1500" dirty="0"/>
          </a:p>
        </p:txBody>
      </p:sp>
      <p:sp>
        <p:nvSpPr>
          <p:cNvPr id="7" name="Shape 5"/>
          <p:cNvSpPr/>
          <p:nvPr/>
        </p:nvSpPr>
        <p:spPr>
          <a:xfrm>
            <a:off x="6203950" y="1945580"/>
            <a:ext cx="5175250" cy="3073400"/>
          </a:xfrm>
          <a:prstGeom prst="roundRect">
            <a:avLst>
              <a:gd name="adj" fmla="val 3306"/>
            </a:avLst>
          </a:prstGeom>
          <a:solidFill>
            <a:srgbClr val="E3EFEA"/>
          </a:solidFill>
          <a:ln/>
        </p:spPr>
      </p:sp>
      <p:sp>
        <p:nvSpPr>
          <p:cNvPr id="8" name="Text 6"/>
          <p:cNvSpPr/>
          <p:nvPr/>
        </p:nvSpPr>
        <p:spPr>
          <a:xfrm>
            <a:off x="6457950" y="2199580"/>
            <a:ext cx="48072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5E52"/>
                </a:solidFill>
                <a:latin typeface="DM Sans" pitchFamily="34" charset="0"/>
                <a:ea typeface="DM Sans" pitchFamily="34" charset="-122"/>
                <a:cs typeface="DM Sans" pitchFamily="34" charset="-120"/>
              </a:rPr>
              <a:t>Pistes</a:t>
            </a:r>
            <a:endParaRPr lang="en-US" sz="2000" dirty="0"/>
          </a:p>
        </p:txBody>
      </p:sp>
      <p:sp>
        <p:nvSpPr>
          <p:cNvPr id="9" name="Text 7"/>
          <p:cNvSpPr/>
          <p:nvPr/>
        </p:nvSpPr>
        <p:spPr>
          <a:xfrm>
            <a:off x="6529070" y="2631380"/>
            <a:ext cx="4728527" cy="21590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b="1" dirty="0">
                <a:solidFill>
                  <a:srgbClr val="16212B"/>
                </a:solidFill>
                <a:latin typeface="DM Sans" pitchFamily="34" charset="0"/>
                <a:ea typeface="DM Sans" pitchFamily="34" charset="-122"/>
                <a:cs typeface="DM Sans" pitchFamily="34" charset="-120"/>
              </a:rPr>
              <a:t>Plusieurs langues :</a:t>
            </a:r>
            <a:r>
              <a:rPr lang="en-US" sz="1500" dirty="0">
                <a:solidFill>
                  <a:srgbClr val="16212B"/>
                </a:solidFill>
                <a:latin typeface="DM Sans" pitchFamily="34" charset="0"/>
                <a:ea typeface="DM Sans" pitchFamily="34" charset="-122"/>
                <a:cs typeface="DM Sans" pitchFamily="34" charset="-120"/>
              </a:rPr>
              <a:t> choisir sa langue, et l’agent répond dans la même.</a:t>
            </a:r>
            <a:endParaRPr lang="en-US" sz="1500" dirty="0"/>
          </a:p>
          <a:p>
            <a:pPr algn="l" marL="182880" indent="-182880">
              <a:lnSpc>
                <a:spcPts val="2100"/>
              </a:lnSpc>
              <a:buSzPct val="100000"/>
              <a:buChar char="•"/>
            </a:pPr>
            <a:r>
              <a:rPr lang="en-US" sz="1500" b="1" dirty="0">
                <a:solidFill>
                  <a:srgbClr val="16212B"/>
                </a:solidFill>
                <a:latin typeface="DM Sans" pitchFamily="34" charset="0"/>
                <a:ea typeface="DM Sans" pitchFamily="34" charset="-122"/>
                <a:cs typeface="DM Sans" pitchFamily="34" charset="-120"/>
              </a:rPr>
              <a:t>Plus rapide :</a:t>
            </a:r>
            <a:r>
              <a:rPr lang="en-US" sz="1500" dirty="0">
                <a:solidFill>
                  <a:srgbClr val="16212B"/>
                </a:solidFill>
                <a:latin typeface="DM Sans" pitchFamily="34" charset="0"/>
                <a:ea typeface="DM Sans" pitchFamily="34" charset="-122"/>
                <a:cs typeface="DM Sans" pitchFamily="34" charset="-120"/>
              </a:rPr>
              <a:t> lancer la recherche web pendant que l’on parle encore.</a:t>
            </a:r>
            <a:endParaRPr lang="en-US" sz="1500" dirty="0"/>
          </a:p>
          <a:p>
            <a:pPr algn="l" marL="182880" indent="-182880">
              <a:lnSpc>
                <a:spcPts val="2100"/>
              </a:lnSpc>
              <a:buSzPct val="100000"/>
              <a:buChar char="•"/>
            </a:pPr>
            <a:r>
              <a:rPr lang="en-US" sz="1500" b="1" dirty="0">
                <a:solidFill>
                  <a:srgbClr val="16212B"/>
                </a:solidFill>
                <a:latin typeface="DM Sans" pitchFamily="34" charset="0"/>
                <a:ea typeface="DM Sans" pitchFamily="34" charset="-122"/>
                <a:cs typeface="DM Sans" pitchFamily="34" charset="-120"/>
              </a:rPr>
              <a:t>Fin de tour adaptative :</a:t>
            </a:r>
            <a:r>
              <a:rPr lang="en-US" sz="1500" dirty="0">
                <a:solidFill>
                  <a:srgbClr val="16212B"/>
                </a:solidFill>
                <a:latin typeface="DM Sans" pitchFamily="34" charset="0"/>
                <a:ea typeface="DM Sans" pitchFamily="34" charset="-122"/>
                <a:cs typeface="DM Sans" pitchFamily="34" charset="-120"/>
              </a:rPr>
              <a:t> attendre davantage si la phrase semble inachevée.</a:t>
            </a:r>
            <a:endParaRPr lang="en-US" sz="1500" dirty="0"/>
          </a:p>
          <a:p>
            <a:pPr algn="l" marL="182880" indent="-182880">
              <a:lnSpc>
                <a:spcPts val="2100"/>
              </a:lnSpc>
              <a:buSzPct val="100000"/>
              <a:buChar char="•"/>
            </a:pPr>
            <a:r>
              <a:rPr lang="en-US" sz="1500" b="1" dirty="0">
                <a:solidFill>
                  <a:srgbClr val="16212B"/>
                </a:solidFill>
                <a:latin typeface="DM Sans" pitchFamily="34" charset="0"/>
                <a:ea typeface="DM Sans" pitchFamily="34" charset="-122"/>
                <a:cs typeface="DM Sans" pitchFamily="34" charset="-120"/>
              </a:rPr>
              <a:t>Mémoire plus longue :</a:t>
            </a:r>
            <a:r>
              <a:rPr lang="en-US" sz="1500" dirty="0">
                <a:solidFill>
                  <a:srgbClr val="16212B"/>
                </a:solidFill>
                <a:latin typeface="DM Sans" pitchFamily="34" charset="0"/>
                <a:ea typeface="DM Sans" pitchFamily="34" charset="-122"/>
                <a:cs typeface="DM Sans" pitchFamily="34" charset="-120"/>
              </a:rPr>
              <a:t> retenir la conversation d’une session à l’autre.</a:t>
            </a:r>
            <a:endParaRPr lang="en-US" sz="1500" dirty="0"/>
          </a:p>
        </p:txBody>
      </p:sp>
      <p:sp>
        <p:nvSpPr>
          <p:cNvPr id="10" name="Text 8"/>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0"/>
                </a:solidFill>
                <a:latin typeface="DM Sans" pitchFamily="34" charset="0"/>
                <a:ea typeface="DM Sans" pitchFamily="34" charset="-122"/>
                <a:cs typeface="DM Sans" pitchFamily="34" charset="-120"/>
              </a:rPr>
              <a:t>Agent vocal temps réel</a:t>
            </a:r>
            <a:endParaRPr lang="en-US" sz="1200" dirty="0"/>
          </a:p>
        </p:txBody>
      </p:sp>
      <p:sp>
        <p:nvSpPr>
          <p:cNvPr id="11" name="Text 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0"/>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DM Sans" pitchFamily="34" charset="0"/>
                <a:ea typeface="DM Sans" pitchFamily="34" charset="-122"/>
                <a:cs typeface="DM Sans" pitchFamily="34" charset="-120"/>
              </a:rPr>
              <a:t>CONCLUSION</a:t>
            </a:r>
            <a:endParaRPr lang="en-US" sz="1400" dirty="0"/>
          </a:p>
        </p:txBody>
      </p:sp>
      <p:sp>
        <p:nvSpPr>
          <p:cNvPr id="3" name="Text 1"/>
          <p:cNvSpPr/>
          <p:nvPr>
            <p:ph type="title"/>
          </p:nvPr>
        </p:nvSpPr>
        <p:spPr>
          <a:xfrm>
            <a:off x="812800" y="11378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FEDE6"/>
                </a:solidFill>
                <a:latin typeface="DM Sans" pitchFamily="34" charset="0"/>
                <a:ea typeface="DM Sans" pitchFamily="34" charset="-122"/>
                <a:cs typeface="DM Sans" pitchFamily="34" charset="-120"/>
              </a:rPr>
              <a:t>Ce qu’on a accompli</a:t>
            </a:r>
            <a:endParaRPr lang="en-US" sz="3600" dirty="0"/>
          </a:p>
        </p:txBody>
      </p:sp>
      <p:sp>
        <p:nvSpPr>
          <p:cNvPr id="4" name="Shape 2"/>
          <p:cNvSpPr/>
          <p:nvPr/>
        </p:nvSpPr>
        <p:spPr>
          <a:xfrm>
            <a:off x="815975" y="1948755"/>
            <a:ext cx="5200650" cy="876300"/>
          </a:xfrm>
          <a:prstGeom prst="roundRect">
            <a:avLst>
              <a:gd name="adj" fmla="val 11232"/>
            </a:avLst>
          </a:prstGeom>
          <a:solidFill>
            <a:srgbClr val="1D2E3D"/>
          </a:solidFill>
          <a:ln w="6350">
            <a:solidFill>
              <a:srgbClr val="2C4256"/>
            </a:solidFill>
            <a:prstDash val="solid"/>
          </a:ln>
        </p:spPr>
      </p:sp>
      <p:pic>
        <p:nvPicPr>
          <p:cNvPr id="5" name="Image 0" descr="Check">    </p:cNvPr>
          <p:cNvPicPr>
            <a:picLocks noChangeAspect="1"/>
          </p:cNvPicPr>
          <p:nvPr/>
        </p:nvPicPr>
        <p:blipFill>
          <a:blip r:embed="rId1"/>
          <a:srcRect l="-615" r="-615" t="0" b="0"/>
          <a:stretch/>
        </p:blipFill>
        <p:spPr>
          <a:xfrm>
            <a:off x="1022350" y="2234505"/>
            <a:ext cx="212130" cy="304800"/>
          </a:xfrm>
          <a:prstGeom prst="rect">
            <a:avLst/>
          </a:prstGeom>
        </p:spPr>
      </p:pic>
      <p:sp>
        <p:nvSpPr>
          <p:cNvPr id="6" name="Text 3"/>
          <p:cNvSpPr/>
          <p:nvPr/>
        </p:nvSpPr>
        <p:spPr>
          <a:xfrm>
            <a:off x="1386880" y="2129730"/>
            <a:ext cx="455607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Une conversation vocale complète, du micro à la voix, dans le navigateur</a:t>
            </a:r>
            <a:endParaRPr lang="en-US" sz="1500" dirty="0"/>
          </a:p>
        </p:txBody>
      </p:sp>
      <p:sp>
        <p:nvSpPr>
          <p:cNvPr id="7" name="Shape 4"/>
          <p:cNvSpPr/>
          <p:nvPr/>
        </p:nvSpPr>
        <p:spPr>
          <a:xfrm>
            <a:off x="6175375" y="1948755"/>
            <a:ext cx="5200650" cy="876300"/>
          </a:xfrm>
          <a:prstGeom prst="roundRect">
            <a:avLst>
              <a:gd name="adj" fmla="val 11232"/>
            </a:avLst>
          </a:prstGeom>
          <a:solidFill>
            <a:srgbClr val="1D2E3D"/>
          </a:solidFill>
          <a:ln w="6350">
            <a:solidFill>
              <a:srgbClr val="2C4256"/>
            </a:solidFill>
            <a:prstDash val="solid"/>
          </a:ln>
        </p:spPr>
      </p:sp>
      <p:pic>
        <p:nvPicPr>
          <p:cNvPr id="8" name="Image 1" descr="Check">    </p:cNvPr>
          <p:cNvPicPr>
            <a:picLocks noChangeAspect="1"/>
          </p:cNvPicPr>
          <p:nvPr/>
        </p:nvPicPr>
        <p:blipFill>
          <a:blip r:embed="rId2"/>
          <a:srcRect l="0" r="0" t="-452" b="-452"/>
          <a:stretch/>
        </p:blipFill>
        <p:spPr>
          <a:xfrm>
            <a:off x="6381750" y="2234505"/>
            <a:ext cx="258018" cy="304800"/>
          </a:xfrm>
          <a:prstGeom prst="rect">
            <a:avLst/>
          </a:prstGeom>
        </p:spPr>
      </p:pic>
      <p:sp>
        <p:nvSpPr>
          <p:cNvPr id="9" name="Text 5"/>
          <p:cNvSpPr/>
          <p:nvPr/>
        </p:nvSpPr>
        <p:spPr>
          <a:xfrm>
            <a:off x="6792168" y="2129730"/>
            <a:ext cx="450880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Une interruption en pleine phrase : l’agent se tait et écoute</a:t>
            </a:r>
            <a:endParaRPr lang="en-US" sz="1500" dirty="0"/>
          </a:p>
        </p:txBody>
      </p:sp>
      <p:sp>
        <p:nvSpPr>
          <p:cNvPr id="10" name="Shape 6"/>
          <p:cNvSpPr/>
          <p:nvPr/>
        </p:nvSpPr>
        <p:spPr>
          <a:xfrm>
            <a:off x="815975" y="2983805"/>
            <a:ext cx="5200650" cy="876300"/>
          </a:xfrm>
          <a:prstGeom prst="roundRect">
            <a:avLst>
              <a:gd name="adj" fmla="val 11232"/>
            </a:avLst>
          </a:prstGeom>
          <a:solidFill>
            <a:srgbClr val="1D2E3D"/>
          </a:solidFill>
          <a:ln w="6350">
            <a:solidFill>
              <a:srgbClr val="2C4256"/>
            </a:solidFill>
            <a:prstDash val="solid"/>
          </a:ln>
        </p:spPr>
      </p:sp>
      <p:pic>
        <p:nvPicPr>
          <p:cNvPr id="11" name="Image 2" descr="Check">    </p:cNvPr>
          <p:cNvPicPr>
            <a:picLocks noChangeAspect="1"/>
          </p:cNvPicPr>
          <p:nvPr/>
        </p:nvPicPr>
        <p:blipFill>
          <a:blip r:embed="rId3"/>
          <a:srcRect l="-379" r="-379" t="0" b="0"/>
          <a:stretch/>
        </p:blipFill>
        <p:spPr>
          <a:xfrm>
            <a:off x="1022350" y="3269555"/>
            <a:ext cx="223937" cy="304800"/>
          </a:xfrm>
          <a:prstGeom prst="rect">
            <a:avLst/>
          </a:prstGeom>
        </p:spPr>
      </p:pic>
      <p:sp>
        <p:nvSpPr>
          <p:cNvPr id="12" name="Text 7"/>
          <p:cNvSpPr/>
          <p:nvPr/>
        </p:nvSpPr>
        <p:spPr>
          <a:xfrm>
            <a:off x="1398687" y="3164780"/>
            <a:ext cx="454391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Une recherche sur internet, annoncée à voix haute pendant l’attente</a:t>
            </a:r>
            <a:endParaRPr lang="en-US" sz="1500" dirty="0"/>
          </a:p>
        </p:txBody>
      </p:sp>
      <p:sp>
        <p:nvSpPr>
          <p:cNvPr id="13" name="Shape 8"/>
          <p:cNvSpPr/>
          <p:nvPr/>
        </p:nvSpPr>
        <p:spPr>
          <a:xfrm>
            <a:off x="6175375" y="2983805"/>
            <a:ext cx="5200650" cy="876300"/>
          </a:xfrm>
          <a:prstGeom prst="roundRect">
            <a:avLst>
              <a:gd name="adj" fmla="val 11232"/>
            </a:avLst>
          </a:prstGeom>
          <a:solidFill>
            <a:srgbClr val="1D2E3D"/>
          </a:solidFill>
          <a:ln w="6350">
            <a:solidFill>
              <a:srgbClr val="2C4256"/>
            </a:solidFill>
            <a:prstDash val="solid"/>
          </a:ln>
        </p:spPr>
      </p:sp>
      <p:pic>
        <p:nvPicPr>
          <p:cNvPr id="14" name="Image 3" descr="Check">    </p:cNvPr>
          <p:cNvPicPr>
            <a:picLocks noChangeAspect="1"/>
          </p:cNvPicPr>
          <p:nvPr/>
        </p:nvPicPr>
        <p:blipFill>
          <a:blip r:embed="rId4"/>
          <a:srcRect l="0" r="0" t="0" b="0"/>
          <a:stretch/>
        </p:blipFill>
        <p:spPr>
          <a:xfrm>
            <a:off x="6381750" y="3269555"/>
            <a:ext cx="304800" cy="304800"/>
          </a:xfrm>
          <a:prstGeom prst="rect">
            <a:avLst/>
          </a:prstGeom>
        </p:spPr>
      </p:pic>
      <p:sp>
        <p:nvSpPr>
          <p:cNvPr id="15" name="Text 9"/>
          <p:cNvSpPr/>
          <p:nvPr/>
        </p:nvSpPr>
        <p:spPr>
          <a:xfrm>
            <a:off x="6838950" y="3293368"/>
            <a:ext cx="45339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Un secours à chaque étape, jusqu’au mode texte</a:t>
            </a:r>
            <a:endParaRPr lang="en-US" sz="1500" dirty="0"/>
          </a:p>
        </p:txBody>
      </p:sp>
      <p:sp>
        <p:nvSpPr>
          <p:cNvPr id="16" name="Shape 10"/>
          <p:cNvSpPr/>
          <p:nvPr/>
        </p:nvSpPr>
        <p:spPr>
          <a:xfrm>
            <a:off x="815975" y="4018855"/>
            <a:ext cx="5200650" cy="876300"/>
          </a:xfrm>
          <a:prstGeom prst="roundRect">
            <a:avLst>
              <a:gd name="adj" fmla="val 11232"/>
            </a:avLst>
          </a:prstGeom>
          <a:solidFill>
            <a:srgbClr val="1D2E3D"/>
          </a:solidFill>
          <a:ln w="6350">
            <a:solidFill>
              <a:srgbClr val="2C4256"/>
            </a:solidFill>
            <a:prstDash val="solid"/>
          </a:ln>
        </p:spPr>
      </p:sp>
      <p:pic>
        <p:nvPicPr>
          <p:cNvPr id="17" name="Image 4" descr="Check">    </p:cNvPr>
          <p:cNvPicPr>
            <a:picLocks noChangeAspect="1"/>
          </p:cNvPicPr>
          <p:nvPr/>
        </p:nvPicPr>
        <p:blipFill>
          <a:blip r:embed="rId5"/>
          <a:srcRect l="0" r="0" t="-283" b="-283"/>
          <a:stretch/>
        </p:blipFill>
        <p:spPr>
          <a:xfrm>
            <a:off x="1022350" y="4304605"/>
            <a:ext cx="271512" cy="304800"/>
          </a:xfrm>
          <a:prstGeom prst="rect">
            <a:avLst/>
          </a:prstGeom>
        </p:spPr>
      </p:pic>
      <p:sp>
        <p:nvSpPr>
          <p:cNvPr id="18" name="Text 11"/>
          <p:cNvSpPr/>
          <p:nvPr/>
        </p:nvSpPr>
        <p:spPr>
          <a:xfrm>
            <a:off x="1446262" y="4199830"/>
            <a:ext cx="449490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Une campagne de mesures : vitesse, interruptions, bruit</a:t>
            </a:r>
            <a:endParaRPr lang="en-US" sz="1500" dirty="0"/>
          </a:p>
        </p:txBody>
      </p:sp>
      <p:sp>
        <p:nvSpPr>
          <p:cNvPr id="19" name="Shape 12"/>
          <p:cNvSpPr/>
          <p:nvPr/>
        </p:nvSpPr>
        <p:spPr>
          <a:xfrm>
            <a:off x="6175375" y="4018855"/>
            <a:ext cx="5200650" cy="876300"/>
          </a:xfrm>
          <a:prstGeom prst="roundRect">
            <a:avLst>
              <a:gd name="adj" fmla="val 11232"/>
            </a:avLst>
          </a:prstGeom>
          <a:solidFill>
            <a:srgbClr val="1D2E3D"/>
          </a:solidFill>
          <a:ln w="6350">
            <a:solidFill>
              <a:srgbClr val="2C4256"/>
            </a:solidFill>
            <a:prstDash val="solid"/>
          </a:ln>
        </p:spPr>
      </p:sp>
      <p:pic>
        <p:nvPicPr>
          <p:cNvPr id="20" name="Image 5" descr="Check">    </p:cNvPr>
          <p:cNvPicPr>
            <a:picLocks noChangeAspect="1"/>
          </p:cNvPicPr>
          <p:nvPr/>
        </p:nvPicPr>
        <p:blipFill>
          <a:blip r:embed="rId6"/>
          <a:srcRect l="0" r="0" t="-482" b="-482"/>
          <a:stretch/>
        </p:blipFill>
        <p:spPr>
          <a:xfrm>
            <a:off x="6381750" y="4304605"/>
            <a:ext cx="283021" cy="304800"/>
          </a:xfrm>
          <a:prstGeom prst="rect">
            <a:avLst/>
          </a:prstGeom>
        </p:spPr>
      </p:pic>
      <p:sp>
        <p:nvSpPr>
          <p:cNvPr id="21" name="Text 13"/>
          <p:cNvSpPr/>
          <p:nvPr/>
        </p:nvSpPr>
        <p:spPr>
          <a:xfrm>
            <a:off x="6817171" y="4199830"/>
            <a:ext cx="448305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FEDE6"/>
                </a:solidFill>
                <a:latin typeface="DM Sans" pitchFamily="34" charset="0"/>
                <a:ea typeface="DM Sans" pitchFamily="34" charset="-122"/>
                <a:cs typeface="DM Sans" pitchFamily="34" charset="-120"/>
              </a:rPr>
              <a:t>Des tests automatiques et un journal de 28 décisions</a:t>
            </a:r>
            <a:endParaRPr lang="en-US" sz="1500" dirty="0"/>
          </a:p>
        </p:txBody>
      </p:sp>
      <p:sp>
        <p:nvSpPr>
          <p:cNvPr id="22" name="Text 14"/>
          <p:cNvSpPr/>
          <p:nvPr/>
        </p:nvSpPr>
        <p:spPr>
          <a:xfrm>
            <a:off x="812800" y="520313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FEDE6"/>
                </a:solidFill>
                <a:latin typeface="DM Sans" pitchFamily="34" charset="0"/>
                <a:ea typeface="DM Sans" pitchFamily="34" charset="-122"/>
                <a:cs typeface="DM Sans" pitchFamily="34" charset="-120"/>
              </a:rPr>
              <a:t>Merci. Des questions ?</a:t>
            </a:r>
            <a:endParaRPr lang="en-US" sz="2200" dirty="0"/>
          </a:p>
        </p:txBody>
      </p:sp>
      <p:sp>
        <p:nvSpPr>
          <p:cNvPr id="23" name="Text 15"/>
          <p:cNvSpPr/>
          <p:nvPr/>
        </p:nvSpPr>
        <p:spPr>
          <a:xfrm>
            <a:off x="812800" y="6238280"/>
            <a:ext cx="1946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DM Sans" pitchFamily="34" charset="0"/>
                <a:ea typeface="DM Sans" pitchFamily="34" charset="-122"/>
                <a:cs typeface="DM Sans" pitchFamily="34" charset="-120"/>
              </a:rPr>
              <a:t>Agent vocal temps réel</a:t>
            </a:r>
            <a:endParaRPr lang="en-US" sz="1200" dirty="0"/>
          </a:p>
        </p:txBody>
      </p:sp>
      <p:sp>
        <p:nvSpPr>
          <p:cNvPr id="24" name="Text 16"/>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4CC"/>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theme/theme1.xml><?xml version="1.0" encoding="utf-8"?>
<a:theme xmlns:a="http://schemas.openxmlformats.org/drawingml/2006/main" name="Agent vocal temps réel">
  <a:themeElements>
    <a:clrScheme name="Agent vocal temps réel">
      <a:dk1>
        <a:srgbClr val="16212B"/>
      </a:dk1>
      <a:lt1>
        <a:srgbClr val="F6F4EE"/>
      </a:lt1>
      <a:dk2>
        <a:srgbClr val="4E565C"/>
      </a:dk2>
      <a:lt2>
        <a:srgbClr val="E0DFDB"/>
      </a:lt2>
      <a:accent1>
        <a:srgbClr val="0F7B6C"/>
      </a:accent1>
      <a:accent2>
        <a:srgbClr val="F2A65A"/>
      </a:accent2>
      <a:accent3>
        <a:srgbClr val="0B5E52"/>
      </a:accent3>
      <a:accent4>
        <a:srgbClr val="0F6B5E"/>
      </a:accent4>
      <a:accent5>
        <a:srgbClr val="3E4A55"/>
      </a:accent5>
      <a:accent6>
        <a:srgbClr val="5B6670"/>
      </a:accent6>
      <a:hlink>
        <a:srgbClr val="0563C1"/>
      </a:hlink>
      <a:folHlink>
        <a:srgbClr val="954F72"/>
      </a:folHlink>
    </a:clrScheme>
    <a:fontScheme name="Agent vocal temps réel">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vocal temps réel</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2026-10-27T10:23:18Z</dcterms:created>
  <dcterms:modified xsi:type="dcterms:W3CDTF">2026-10-27T10:23:18Z</dcterms:modified>
</cp:coreProperties>
</file>